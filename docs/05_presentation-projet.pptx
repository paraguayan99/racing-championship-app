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305" r:id="rId4"/>
    <p:sldId id="258" r:id="rId5"/>
    <p:sldId id="311" r:id="rId6"/>
    <p:sldId id="312" r:id="rId7"/>
    <p:sldId id="313" r:id="rId8"/>
    <p:sldId id="314" r:id="rId9"/>
    <p:sldId id="315" r:id="rId10"/>
    <p:sldId id="316" r:id="rId11"/>
    <p:sldId id="317" r:id="rId12"/>
    <p:sldId id="318" r:id="rId13"/>
    <p:sldId id="319" r:id="rId14"/>
    <p:sldId id="320" r:id="rId15"/>
    <p:sldId id="321" r:id="rId16"/>
    <p:sldId id="325" r:id="rId17"/>
    <p:sldId id="326" r:id="rId18"/>
    <p:sldId id="327" r:id="rId19"/>
    <p:sldId id="328" r:id="rId20"/>
    <p:sldId id="322" r:id="rId21"/>
    <p:sldId id="329" r:id="rId22"/>
    <p:sldId id="330" r:id="rId23"/>
    <p:sldId id="331" r:id="rId24"/>
    <p:sldId id="332" r:id="rId25"/>
    <p:sldId id="323" r:id="rId26"/>
    <p:sldId id="333" r:id="rId27"/>
    <p:sldId id="334" r:id="rId28"/>
    <p:sldId id="335" r:id="rId29"/>
    <p:sldId id="336" r:id="rId30"/>
    <p:sldId id="324" r:id="rId31"/>
    <p:sldId id="338" r:id="rId32"/>
    <p:sldId id="339" r:id="rId33"/>
    <p:sldId id="340" r:id="rId34"/>
  </p:sldIdLst>
  <p:sldSz cx="14630400" cy="8229600"/>
  <p:notesSz cx="8229600" cy="14630400"/>
  <p:embeddedFontLst>
    <p:embeddedFont>
      <p:font typeface="Poppins" panose="00000500000000000000" pitchFamily="2" charset="0"/>
      <p:regular r:id="rId36"/>
      <p:bold r:id="rId37"/>
      <p:italic r:id="rId38"/>
      <p:boldItalic r:id="rId39"/>
    </p:embeddedFont>
    <p:embeddedFont>
      <p:font typeface="Titillium Web" panose="00000500000000000000" pitchFamily="2" charset="0"/>
      <p:regular r:id="rId40"/>
      <p:bold r:id="rId41"/>
      <p:italic r:id="rId42"/>
      <p:boldItalic r:id="rId43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151E"/>
    <a:srgbClr val="E106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2" autoAdjust="0"/>
    <p:restoredTop sz="93741" autoAdjust="0"/>
  </p:normalViewPr>
  <p:slideViewPr>
    <p:cSldViewPr snapToGrid="0" snapToObjects="1">
      <p:cViewPr varScale="1">
        <p:scale>
          <a:sx n="55" d="100"/>
          <a:sy n="55" d="100"/>
        </p:scale>
        <p:origin x="652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9854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2820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6059B-6507-1C49-E996-722FE97DA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8E84AC-DB78-77D4-247E-94400FEFB9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76E9F4-288E-0291-8D52-6C520F6558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F1A744-F0C5-12DE-0B14-8261B653B5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16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5851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0746F-23FC-206F-EB4C-A691E1834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9538A7-F358-5754-B55C-6EE4ECE568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4C933D-24D3-483B-EE9C-D343297E89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lang="en-US" sz="1200" b="0" i="0" dirty="0">
              <a:solidFill>
                <a:srgbClr val="0C0D0F"/>
              </a:solidFill>
              <a:latin typeface="Poppins" panose="00000500000000000000" pitchFamily="2" charset="0"/>
              <a:ea typeface="Hubot Sans Bold" pitchFamily="34" charset="-122"/>
              <a:cs typeface="Poppins" panose="000005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E1ADA-F112-BAC9-171E-3A81FE5BA7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2470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8D5FB-EE04-8744-4A89-F7E392703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C8A1F6-A1E5-1E5B-77AA-89C4298C3C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4E6F06-5FB2-4C99-960F-AAB454B4D2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dirty="0">
              <a:solidFill>
                <a:srgbClr val="0C0D0F"/>
              </a:solidFill>
              <a:latin typeface="Poppins" panose="00000500000000000000" pitchFamily="2" charset="0"/>
              <a:ea typeface="Hubot Sans Bold" pitchFamily="34" charset="-122"/>
              <a:cs typeface="Poppins" panose="000005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A6229B-DBEA-75BF-B08B-C540127F07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5495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B995B-7A07-1AFB-C401-FDA1217F5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9565A4-B1E5-9455-B5BA-64905A6D7E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1366DF-BF0F-9312-3A28-CB36074322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lang="en-US" sz="1200" b="0" i="0" dirty="0">
              <a:solidFill>
                <a:srgbClr val="0C0D0F"/>
              </a:solidFill>
              <a:latin typeface="Poppins" panose="00000500000000000000" pitchFamily="2" charset="0"/>
              <a:ea typeface="Hubot Sans Bold" pitchFamily="34" charset="-122"/>
              <a:cs typeface="Poppins" panose="000005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BF0215-450F-1D20-D2A4-CB1BACE96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4220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DC2B6-4B41-F814-5FF4-F819F0BCA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F4FD74-5FED-4EEE-4D9B-FDEF92663D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44DFB7-4067-0CAE-FB3A-2208782016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fr-FR" sz="120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7BB0-0C22-5CD8-A1DB-B33DE13B60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7620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32B7D-DEBF-8C03-77EC-1DF0055CB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BF3436-B039-95DD-84B9-F4C7805EEC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88FCB3-FDA9-AE33-EB9F-FA5FCAFFF2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AFCF0-33C7-BBED-CB51-0CCCC768DD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7625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9F2DE-20A7-E890-C595-A00E3930D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69838D-D702-CF50-B46C-DCFEF702BC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C94486-F220-9FD0-5704-85C7B19498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A1BCFA-F221-BD77-E567-498FA5729C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8389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D90DA-B467-D710-6500-29B3DE5BB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D8C646-07EC-E448-3E80-D9697CA1A2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F8A269-C0B9-6FBF-D50F-1369F3566D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C8F43F-7C8F-DEF1-A8CF-91E02C201A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7009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EDC2B-4581-842B-CC78-CE5D7EC4E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53F364-A393-4453-B3D6-D5905724C1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8D21F4-601C-C178-6AD5-6A1D108F2D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b="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A44AD-FDA7-3B7B-9368-37965DA4CE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7299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7B25E-FFD1-7F09-2653-ED0579C38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7C3CE3-6E2E-1AAD-3F98-287A50A1F3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CF9BE4-8249-9955-DA78-916D8B1571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lang="fr-FR" sz="1200" b="0" i="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A4CC64-5127-0AC7-3AC7-B9F03CA975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838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9A8F2-EF5F-C6A8-C36D-DC8F29457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921F41-3D41-9CDF-C54C-65C834144D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118DF2-2F0D-63EC-340F-9D1F2C51F6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lang="en-US" sz="1200" b="0" i="0" dirty="0">
              <a:solidFill>
                <a:srgbClr val="0C0D0F"/>
              </a:solidFill>
              <a:latin typeface="Poppins" panose="00000500000000000000" pitchFamily="2" charset="0"/>
              <a:ea typeface="Hubot Sans Bold" pitchFamily="34" charset="-122"/>
              <a:cs typeface="Poppins" panose="000005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12CEB6-416A-A3EF-7D50-E7A8F6AFD7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4158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93B5C-D4F9-EDBE-5166-6AA3B1FC0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5D89E3-81CA-905F-FF2E-971E85795E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992F84-5B04-3A83-78AE-E428CA8EB8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6A5DC1-584F-BE56-BA62-39BF0CE54A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0538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04B30-0763-9030-10C3-E350C50AC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425B13-C5C2-22EF-71F0-C19F8367EF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971D29-4B6B-7E93-E65E-1A289C7EDA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dirty="0">
              <a:solidFill>
                <a:srgbClr val="0C0D0F"/>
              </a:solidFill>
              <a:latin typeface="Poppins" panose="00000500000000000000" pitchFamily="2" charset="0"/>
              <a:ea typeface="Hubot Sans Bold" pitchFamily="34" charset="-122"/>
              <a:cs typeface="Poppins" panose="000005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998C74-445D-A768-3B6C-DE354B6B28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5332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7DA91-5CB8-D8A4-0B18-C74692391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6DC22C-1D32-9A1C-283D-C490EA5445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27AD54-C57D-22FF-24E6-9FC4D2EAE2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lang="en-US" sz="1200" dirty="0">
              <a:solidFill>
                <a:srgbClr val="55575A"/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ABF99-CBA6-50C2-7B61-8E197AD82C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8792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C7451-486F-90C3-87F3-7C8D1D924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F08AF4-3A2B-33C4-5250-7E344B2A0C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68B6B2-15A4-0EC2-1B13-02E3A4F257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fr-FR" sz="120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F15A4-E3EC-BFC4-E65E-206FD01A5A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0748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29E2A-CC99-BA39-DDA6-9F3A1653C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1B75D0-1D0C-9B5E-EF94-B7775CEF6D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0CAA50-1EB7-AF30-8E5D-3C64420949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F08E4F-D6B6-6250-9769-FBD65EF494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0524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1AB7F-615F-6C2A-0086-4827ACF36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B05C99-651D-6D76-77A7-EA16D3284B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03AAD4-73C4-66D1-F854-4BAA4569B8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4014AB-C1FC-3D98-F79A-CC066B81C0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0506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8A0E3-CF09-6957-55AF-3198A1B66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E20D8B-A96A-14D4-D7B7-4C3B3C7C88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4ADAE2-D7C4-8E9B-AFB3-FE17EE21D7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fr-FR" sz="1200" b="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3DAA7-A902-0499-8EFB-43DB91A736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6956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B7FE0-633D-5767-E39F-984559485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251BD2-E7AB-1347-3FBA-DA52532BB9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B6E9EB-5D03-BC60-EDAF-4CF78F56FF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0F173C-4879-23F5-E185-DFA64D419A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1740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19CFD-C707-F491-A3C1-86CA0A24F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44CE45-CD8D-DE3D-49C7-7E55047FBF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D28F56-F939-E5A3-2122-6DA1267B0C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b="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2E90F6-B647-1F76-2EC8-8C3E1063C8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5688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37EE4-8CB3-CF28-A8B5-F190E4244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81E78B-4678-B55B-6489-49912DD448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050F17-3E21-15C2-81B3-75EDB1CEF1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lang="en-US" sz="1200" b="0" i="0" dirty="0">
              <a:solidFill>
                <a:srgbClr val="0C0D0F"/>
              </a:solidFill>
              <a:latin typeface="Poppins" panose="00000500000000000000" pitchFamily="2" charset="0"/>
              <a:ea typeface="Hubot Sans Bold" pitchFamily="34" charset="-122"/>
              <a:cs typeface="Poppins" panose="000005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B47F6B-7BA7-36BF-6A7A-7E2E5C3311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02112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79A69-98EE-70A7-606E-C12AD642D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B646CA-3F94-FA43-1F64-6D90383C85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A72AFB-2680-EA16-C37C-22860A90F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CD8BBD-046B-00E2-EC37-2138D4BDB9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33126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E710B-A893-49E9-5961-A84E8EA9E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5101EE-565A-EB06-113B-13ABFA21B1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C2AD56-649D-F623-91F3-E7EA6BE10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7CF9C4-FA6A-60AC-00B7-7C3DB8E84C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23738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DB811-EAEF-7C6C-B50B-EF3ACFC05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426D82-A64E-DD18-0F45-A1542F8008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6F2C9F-B55E-525B-078B-5827FEB8D4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504E95-3512-A0E1-176A-A7843B086A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1304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99E29-A888-899F-DB61-29804782F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5F314A-41DA-F893-B61F-32B37324A2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DAC7F8-370D-DFC5-4537-96DCE1045E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71E94F-E909-C150-02B6-76E6710C5B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89649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92B4B-294F-C432-1FA1-14D15A319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2D4F71-B7A1-02A8-22E2-659AF622AF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6FA6F4-3B0F-E664-3A46-B38A5EF438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lang="en-US" sz="1200" b="0" i="0" dirty="0">
              <a:solidFill>
                <a:srgbClr val="0C0D0F"/>
              </a:solidFill>
              <a:latin typeface="Poppins" panose="00000500000000000000" pitchFamily="2" charset="0"/>
              <a:ea typeface="Hubot Sans Bold" pitchFamily="34" charset="-122"/>
              <a:cs typeface="Poppins" panose="00000500000000000000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92605A-B42D-FB29-E311-BDEE62BCFE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33601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271CD-EF98-CDCA-32A8-6EFC1D5C7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F3BCB7-839C-17DD-EF11-AF3CA83DFE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B709D5-9188-2BF1-FC29-AD0ABB8D74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1903DF-C0D5-C574-B470-1EDFCCD919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92026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8FBF2-0113-C0BF-C5F7-D1E4CDDEE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255370-2560-1894-07CA-48F11E81D0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698F48-4CA8-35C7-39B3-A6857EC29F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fr-FR" sz="1200" b="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4A291-D12A-63CB-7D37-44DB97386C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92958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9464F-8694-6600-007B-0AEE2D341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55C387-60FF-63CA-B7B9-CA233E7578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95236A-10C1-9D0E-AACD-CAE60BC968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24138B-F3A7-D1AF-0360-EB2AD429F2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88078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3A0E1-07E5-09CC-68CF-F90712FFD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3C97DA-3848-F7E3-01E1-BF85A2D750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15E80D-299A-67E8-22BF-6498B2705D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097F49-3D63-7DF2-DBCA-0D06134059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290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ferris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8E8E3"/>
          </a:solidFill>
          <a:ln/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ferris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 xmlns:p14="http://schemas.microsoft.com/office/powerpoint/2010/main">
    <mc:Choice Requires="p14">
      <p:transition spd="slow" p14:dur="3000">
        <p14:ferris dir="l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8976" y="260499"/>
            <a:ext cx="5139067" cy="7708601"/>
          </a:xfrm>
          <a:prstGeom prst="roundRect">
            <a:avLst>
              <a:gd name="adj" fmla="val 5536"/>
            </a:avLst>
          </a:prstGeom>
        </p:spPr>
      </p:pic>
      <p:sp>
        <p:nvSpPr>
          <p:cNvPr id="3" name="Text 0"/>
          <p:cNvSpPr/>
          <p:nvPr/>
        </p:nvSpPr>
        <p:spPr>
          <a:xfrm>
            <a:off x="5914663" y="3455042"/>
            <a:ext cx="7921947" cy="1319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5550"/>
              </a:lnSpc>
              <a:buNone/>
            </a:pPr>
            <a:r>
              <a:rPr lang="fr-FR" sz="24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GESTION D'UN CHAMPIONNAT DE COURSES EN LIGNE</a:t>
            </a:r>
            <a:endParaRPr lang="fr-FR" dirty="0"/>
          </a:p>
          <a:p>
            <a:r>
              <a:rPr lang="en-US" b="1" dirty="0">
                <a:solidFill>
                  <a:srgbClr val="E106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Racing Championship App - Web MVC PHP platform</a:t>
            </a:r>
            <a:endParaRPr lang="en-US" sz="2400" i="1" dirty="0">
              <a:solidFill>
                <a:srgbClr val="E106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914663" y="5771912"/>
            <a:ext cx="7556421" cy="2488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endParaRPr lang="fr-FR" dirty="0"/>
          </a:p>
          <a:p>
            <a:r>
              <a:rPr lang="fr-FR" b="1" dirty="0">
                <a:latin typeface="Poppins" panose="00000500000000000000" pitchFamily="2" charset="0"/>
                <a:cs typeface="Poppins" panose="00000500000000000000" pitchFamily="2" charset="0"/>
              </a:rPr>
              <a:t>ACHARD Cédric </a:t>
            </a:r>
            <a:endParaRPr lang="fr-FR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fr-FR" dirty="0" err="1">
                <a:solidFill>
                  <a:schemeClr val="bg1">
                    <a:lumMod val="50000"/>
                  </a:schemeClr>
                </a:solidFill>
                <a:latin typeface="Titillium Web" panose="00000500000000000000" pitchFamily="2" charset="0"/>
              </a:rPr>
              <a:t>CEFii</a:t>
            </a:r>
            <a:r>
              <a:rPr lang="fr-FR" dirty="0">
                <a:solidFill>
                  <a:schemeClr val="bg1">
                    <a:lumMod val="50000"/>
                  </a:schemeClr>
                </a:solidFill>
                <a:latin typeface="Titillium Web" panose="00000500000000000000" pitchFamily="2" charset="0"/>
              </a:rPr>
              <a:t> Angers </a:t>
            </a:r>
          </a:p>
          <a:p>
            <a:r>
              <a:rPr lang="fr-FR" dirty="0">
                <a:solidFill>
                  <a:schemeClr val="bg1">
                    <a:lumMod val="50000"/>
                  </a:schemeClr>
                </a:solidFill>
                <a:latin typeface="Titillium Web" panose="00000500000000000000" pitchFamily="2" charset="0"/>
              </a:rPr>
              <a:t>Titre professionnel Développeur Web et Web Mobile </a:t>
            </a:r>
          </a:p>
          <a:p>
            <a:r>
              <a:rPr lang="fr-FR" dirty="0">
                <a:solidFill>
                  <a:schemeClr val="bg1">
                    <a:lumMod val="50000"/>
                  </a:schemeClr>
                </a:solidFill>
                <a:latin typeface="Titillium Web" panose="00000500000000000000" pitchFamily="2" charset="0"/>
              </a:rPr>
              <a:t>Projet réalisé en autonomie dans le cadre de l'examen </a:t>
            </a:r>
          </a:p>
          <a:p>
            <a:r>
              <a:rPr lang="fr-FR" b="1" dirty="0">
                <a:latin typeface="Poppins" panose="00000500000000000000" pitchFamily="2" charset="0"/>
                <a:cs typeface="Poppins" panose="00000500000000000000" pitchFamily="2" charset="0"/>
              </a:rPr>
              <a:t>Novembre - Décembre 2025 </a:t>
            </a:r>
            <a:endParaRPr lang="en-US" sz="17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B9E86AFB-1124-7C93-731B-DCF03572FF8C}"/>
              </a:ext>
            </a:extLst>
          </p:cNvPr>
          <p:cNvSpPr/>
          <p:nvPr/>
        </p:nvSpPr>
        <p:spPr>
          <a:xfrm>
            <a:off x="5879939" y="1748908"/>
            <a:ext cx="669036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5550"/>
              </a:lnSpc>
            </a:pPr>
            <a:r>
              <a:rPr lang="en-US" sz="445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PRÉSENTATION DE PROJET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3D6F1483-2090-2C6D-DF32-F4CEE24D3DB5}"/>
              </a:ext>
            </a:extLst>
          </p:cNvPr>
          <p:cNvCxnSpPr/>
          <p:nvPr/>
        </p:nvCxnSpPr>
        <p:spPr>
          <a:xfrm>
            <a:off x="5914663" y="1561758"/>
            <a:ext cx="7303626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1F7BAA43-35B7-F653-B90C-E944DC89E617}"/>
              </a:ext>
            </a:extLst>
          </p:cNvPr>
          <p:cNvCxnSpPr/>
          <p:nvPr/>
        </p:nvCxnSpPr>
        <p:spPr>
          <a:xfrm>
            <a:off x="5927726" y="2570685"/>
            <a:ext cx="7303626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ferris dir="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62857"/>
            <a:ext cx="1022199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SOMMAIRE</a:t>
            </a:r>
          </a:p>
        </p:txBody>
      </p:sp>
      <p:sp>
        <p:nvSpPr>
          <p:cNvPr id="3" name="Text 1"/>
          <p:cNvSpPr/>
          <p:nvPr/>
        </p:nvSpPr>
        <p:spPr>
          <a:xfrm>
            <a:off x="793790" y="285273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00" b="1" i="1" dirty="0">
                <a:solidFill>
                  <a:srgbClr val="E10600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01</a:t>
            </a:r>
          </a:p>
        </p:txBody>
      </p:sp>
      <p:sp>
        <p:nvSpPr>
          <p:cNvPr id="4" name="Shape 2"/>
          <p:cNvSpPr/>
          <p:nvPr/>
        </p:nvSpPr>
        <p:spPr>
          <a:xfrm>
            <a:off x="793790" y="3207782"/>
            <a:ext cx="4196358" cy="72000"/>
          </a:xfrm>
          <a:prstGeom prst="rect">
            <a:avLst/>
          </a:prstGeom>
          <a:solidFill>
            <a:srgbClr val="C8CAC1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382089"/>
            <a:ext cx="334387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CONTEXTE</a:t>
            </a:r>
          </a:p>
        </p:txBody>
      </p:sp>
      <p:sp>
        <p:nvSpPr>
          <p:cNvPr id="7" name="Text 5"/>
          <p:cNvSpPr/>
          <p:nvPr/>
        </p:nvSpPr>
        <p:spPr>
          <a:xfrm>
            <a:off x="5216962" y="285273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00" b="1" i="1" dirty="0">
                <a:solidFill>
                  <a:srgbClr val="E10600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02</a:t>
            </a:r>
          </a:p>
        </p:txBody>
      </p:sp>
      <p:sp>
        <p:nvSpPr>
          <p:cNvPr id="8" name="Shape 6"/>
          <p:cNvSpPr/>
          <p:nvPr/>
        </p:nvSpPr>
        <p:spPr>
          <a:xfrm>
            <a:off x="5216962" y="3207782"/>
            <a:ext cx="4196358" cy="72000"/>
          </a:xfrm>
          <a:prstGeom prst="rect">
            <a:avLst/>
          </a:prstGeom>
          <a:solidFill>
            <a:srgbClr val="C8CAC1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382089"/>
            <a:ext cx="419635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ÉLÉMENTS </a:t>
            </a:r>
          </a:p>
          <a:p>
            <a:r>
              <a:rPr lang="en-US" sz="24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CÔTÉ FRONT-END</a:t>
            </a:r>
          </a:p>
        </p:txBody>
      </p:sp>
      <p:sp>
        <p:nvSpPr>
          <p:cNvPr id="11" name="Text 9"/>
          <p:cNvSpPr/>
          <p:nvPr/>
        </p:nvSpPr>
        <p:spPr>
          <a:xfrm>
            <a:off x="9640133" y="285273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00" b="1" i="1" dirty="0">
                <a:solidFill>
                  <a:srgbClr val="E10600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03</a:t>
            </a:r>
          </a:p>
        </p:txBody>
      </p:sp>
      <p:sp>
        <p:nvSpPr>
          <p:cNvPr id="12" name="Shape 10"/>
          <p:cNvSpPr/>
          <p:nvPr/>
        </p:nvSpPr>
        <p:spPr>
          <a:xfrm>
            <a:off x="9640133" y="3207782"/>
            <a:ext cx="4196358" cy="72000"/>
          </a:xfrm>
          <a:prstGeom prst="rect">
            <a:avLst/>
          </a:prstGeom>
          <a:solidFill>
            <a:srgbClr val="C8CAC1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382088"/>
            <a:ext cx="3597116" cy="835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24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ÉLÉMENTS </a:t>
            </a:r>
          </a:p>
          <a:p>
            <a:r>
              <a:rPr lang="en-US" sz="24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CÔTÉ BACK-END</a:t>
            </a:r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FCEF410D-E182-DA08-5CC8-FE93915ECEE7}"/>
              </a:ext>
            </a:extLst>
          </p:cNvPr>
          <p:cNvSpPr/>
          <p:nvPr/>
        </p:nvSpPr>
        <p:spPr>
          <a:xfrm>
            <a:off x="808375" y="510430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00" b="1" i="1" dirty="0">
                <a:solidFill>
                  <a:srgbClr val="E10600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04</a:t>
            </a:r>
          </a:p>
        </p:txBody>
      </p:sp>
      <p:sp>
        <p:nvSpPr>
          <p:cNvPr id="26" name="Shape 2">
            <a:extLst>
              <a:ext uri="{FF2B5EF4-FFF2-40B4-BE49-F238E27FC236}">
                <a16:creationId xmlns:a16="http://schemas.microsoft.com/office/drawing/2014/main" id="{BC5BC01E-6C1B-6DBA-557B-1B06D8240C23}"/>
              </a:ext>
            </a:extLst>
          </p:cNvPr>
          <p:cNvSpPr/>
          <p:nvPr/>
        </p:nvSpPr>
        <p:spPr>
          <a:xfrm>
            <a:off x="808375" y="5459345"/>
            <a:ext cx="4196358" cy="72000"/>
          </a:xfrm>
          <a:prstGeom prst="rect">
            <a:avLst/>
          </a:prstGeom>
          <a:solidFill>
            <a:srgbClr val="C8CAC1"/>
          </a:solidFill>
          <a:ln/>
        </p:spPr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624D33EC-5424-EE87-EDAD-969F9BF43428}"/>
              </a:ext>
            </a:extLst>
          </p:cNvPr>
          <p:cNvSpPr/>
          <p:nvPr/>
        </p:nvSpPr>
        <p:spPr>
          <a:xfrm>
            <a:off x="808375" y="5633652"/>
            <a:ext cx="334387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4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ÉLÉMENTS </a:t>
            </a:r>
          </a:p>
          <a:p>
            <a:pPr>
              <a:lnSpc>
                <a:spcPts val="2750"/>
              </a:lnSpc>
            </a:pPr>
            <a:r>
              <a:rPr lang="en-US" sz="24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DE SÉCURITÉ </a:t>
            </a:r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EEE546FF-F1BF-5B1F-9448-B040A84CFD8E}"/>
              </a:ext>
            </a:extLst>
          </p:cNvPr>
          <p:cNvSpPr/>
          <p:nvPr/>
        </p:nvSpPr>
        <p:spPr>
          <a:xfrm>
            <a:off x="5231547" y="510430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00" b="1" i="1" dirty="0">
                <a:solidFill>
                  <a:srgbClr val="E10600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05</a:t>
            </a:r>
          </a:p>
        </p:txBody>
      </p:sp>
      <p:sp>
        <p:nvSpPr>
          <p:cNvPr id="29" name="Shape 6">
            <a:extLst>
              <a:ext uri="{FF2B5EF4-FFF2-40B4-BE49-F238E27FC236}">
                <a16:creationId xmlns:a16="http://schemas.microsoft.com/office/drawing/2014/main" id="{5BDDAE26-EA91-D6AA-68B3-D2ED1CE9E6AC}"/>
              </a:ext>
            </a:extLst>
          </p:cNvPr>
          <p:cNvSpPr/>
          <p:nvPr/>
        </p:nvSpPr>
        <p:spPr>
          <a:xfrm>
            <a:off x="5231547" y="5459345"/>
            <a:ext cx="4196358" cy="72000"/>
          </a:xfrm>
          <a:prstGeom prst="rect">
            <a:avLst/>
          </a:prstGeom>
          <a:solidFill>
            <a:srgbClr val="C8CAC1"/>
          </a:solidFill>
          <a:ln/>
        </p:spPr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44EF94B9-05FB-A7EA-7F29-2DC5F68E9DD6}"/>
              </a:ext>
            </a:extLst>
          </p:cNvPr>
          <p:cNvSpPr/>
          <p:nvPr/>
        </p:nvSpPr>
        <p:spPr>
          <a:xfrm>
            <a:off x="5231547" y="5633652"/>
            <a:ext cx="419635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JEU D’ESSAI </a:t>
            </a:r>
          </a:p>
          <a:p>
            <a:r>
              <a:rPr lang="en-US" sz="24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&amp; VEILLE EFFECTUÉE</a:t>
            </a: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C94632E0-D831-8FC1-FF76-8F7C84B760A2}"/>
              </a:ext>
            </a:extLst>
          </p:cNvPr>
          <p:cNvSpPr/>
          <p:nvPr/>
        </p:nvSpPr>
        <p:spPr>
          <a:xfrm>
            <a:off x="9654718" y="510430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00" b="1" i="1" dirty="0">
                <a:solidFill>
                  <a:srgbClr val="E10600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06</a:t>
            </a:r>
          </a:p>
        </p:txBody>
      </p:sp>
      <p:sp>
        <p:nvSpPr>
          <p:cNvPr id="32" name="Shape 10">
            <a:extLst>
              <a:ext uri="{FF2B5EF4-FFF2-40B4-BE49-F238E27FC236}">
                <a16:creationId xmlns:a16="http://schemas.microsoft.com/office/drawing/2014/main" id="{D0734E19-1187-0D9C-3B64-F636F4F4236B}"/>
              </a:ext>
            </a:extLst>
          </p:cNvPr>
          <p:cNvSpPr/>
          <p:nvPr/>
        </p:nvSpPr>
        <p:spPr>
          <a:xfrm>
            <a:off x="9654718" y="5459345"/>
            <a:ext cx="4196358" cy="72000"/>
          </a:xfrm>
          <a:prstGeom prst="rect">
            <a:avLst/>
          </a:prstGeom>
          <a:solidFill>
            <a:srgbClr val="C8CAC1"/>
          </a:solidFill>
          <a:ln/>
        </p:spPr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1D64CE38-8571-E878-50DD-C504D0655883}"/>
              </a:ext>
            </a:extLst>
          </p:cNvPr>
          <p:cNvSpPr/>
          <p:nvPr/>
        </p:nvSpPr>
        <p:spPr>
          <a:xfrm>
            <a:off x="9654718" y="5633651"/>
            <a:ext cx="3597116" cy="835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4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CONCLUSION </a:t>
            </a:r>
          </a:p>
          <a:p>
            <a:pPr>
              <a:lnSpc>
                <a:spcPts val="2750"/>
              </a:lnSpc>
            </a:pPr>
            <a:r>
              <a:rPr lang="en-US" sz="24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&amp; DÉMO</a:t>
            </a:r>
          </a:p>
        </p:txBody>
      </p:sp>
      <p:sp>
        <p:nvSpPr>
          <p:cNvPr id="34" name="Shape 2">
            <a:extLst>
              <a:ext uri="{FF2B5EF4-FFF2-40B4-BE49-F238E27FC236}">
                <a16:creationId xmlns:a16="http://schemas.microsoft.com/office/drawing/2014/main" id="{289FE813-6E63-0E4E-E4CF-7F06576B7DB7}"/>
              </a:ext>
            </a:extLst>
          </p:cNvPr>
          <p:cNvSpPr/>
          <p:nvPr/>
        </p:nvSpPr>
        <p:spPr>
          <a:xfrm>
            <a:off x="808375" y="1828308"/>
            <a:ext cx="8604945" cy="108000"/>
          </a:xfrm>
          <a:prstGeom prst="rect">
            <a:avLst/>
          </a:prstGeom>
          <a:solidFill>
            <a:srgbClr val="C8CAC1"/>
          </a:solidFill>
          <a:ln/>
        </p:spPr>
      </p:sp>
    </p:spTree>
    <p:extLst>
      <p:ext uri="{BB962C8B-B14F-4D97-AF65-F5344CB8AC3E}">
        <p14:creationId xmlns:p14="http://schemas.microsoft.com/office/powerpoint/2010/main" val="1246616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ferris dir="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F2ACB-7BD9-719A-C7FA-FBFE24217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1">
            <a:extLst>
              <a:ext uri="{FF2B5EF4-FFF2-40B4-BE49-F238E27FC236}">
                <a16:creationId xmlns:a16="http://schemas.microsoft.com/office/drawing/2014/main" id="{9D902658-05D4-B7DA-869E-53771AEF99CB}"/>
              </a:ext>
            </a:extLst>
          </p:cNvPr>
          <p:cNvSpPr/>
          <p:nvPr/>
        </p:nvSpPr>
        <p:spPr>
          <a:xfrm>
            <a:off x="793907" y="3935388"/>
            <a:ext cx="13042586" cy="3472410"/>
          </a:xfrm>
          <a:prstGeom prst="roundRect">
            <a:avLst>
              <a:gd name="adj" fmla="val 1033"/>
            </a:avLst>
          </a:prstGeom>
          <a:solidFill>
            <a:srgbClr val="D8D9D2"/>
          </a:solidFill>
          <a:ln/>
        </p:spPr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6D4094B0-5954-DBD9-6BCA-6561FC4E73BD}"/>
              </a:ext>
            </a:extLst>
          </p:cNvPr>
          <p:cNvSpPr/>
          <p:nvPr/>
        </p:nvSpPr>
        <p:spPr>
          <a:xfrm>
            <a:off x="793908" y="3074011"/>
            <a:ext cx="682963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CONTEXTE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888F4DF-36A1-0AA8-BC1B-F14B1CF41561}"/>
              </a:ext>
            </a:extLst>
          </p:cNvPr>
          <p:cNvSpPr/>
          <p:nvPr/>
        </p:nvSpPr>
        <p:spPr>
          <a:xfrm>
            <a:off x="793908" y="2593530"/>
            <a:ext cx="753656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5000" b="1" i="1" dirty="0">
                <a:solidFill>
                  <a:srgbClr val="E10600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01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C21867F-A78D-5738-C0EE-622C3EBAD472}"/>
              </a:ext>
            </a:extLst>
          </p:cNvPr>
          <p:cNvSpPr/>
          <p:nvPr/>
        </p:nvSpPr>
        <p:spPr>
          <a:xfrm>
            <a:off x="793908" y="2948574"/>
            <a:ext cx="4196358" cy="72000"/>
          </a:xfrm>
          <a:prstGeom prst="rect">
            <a:avLst/>
          </a:prstGeom>
          <a:solidFill>
            <a:srgbClr val="C8CAC1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699A13C-8B10-E41C-63E7-7F29C6905EB6}"/>
              </a:ext>
            </a:extLst>
          </p:cNvPr>
          <p:cNvSpPr/>
          <p:nvPr/>
        </p:nvSpPr>
        <p:spPr>
          <a:xfrm>
            <a:off x="1170736" y="4568621"/>
            <a:ext cx="12221173" cy="2376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Roboto Condensed" pitchFamily="34" charset="-122"/>
                <a:cs typeface="Poppins" panose="00000500000000000000" pitchFamily="2" charset="0"/>
              </a:rPr>
              <a:t>PRÉSENTATIONS</a:t>
            </a:r>
          </a:p>
          <a:p>
            <a:pPr marL="0" indent="0" algn="l">
              <a:buNone/>
            </a:pPr>
            <a:r>
              <a:rPr lang="en-US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Roboto Condensed" pitchFamily="34" charset="-122"/>
                <a:cs typeface="Poppins" panose="00000500000000000000" pitchFamily="2" charset="0"/>
              </a:rPr>
              <a:t>BESOINS &amp; ENJEUX</a:t>
            </a:r>
          </a:p>
          <a:p>
            <a:pPr marL="0" indent="0" algn="l">
              <a:buNone/>
            </a:pPr>
            <a:r>
              <a:rPr lang="en-US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Roboto Condensed" pitchFamily="34" charset="-122"/>
                <a:cs typeface="Poppins" panose="00000500000000000000" pitchFamily="2" charset="0"/>
              </a:rPr>
              <a:t>CAHIER DES CHARGES</a:t>
            </a:r>
          </a:p>
          <a:p>
            <a:pPr marL="0" indent="0" algn="l">
              <a:buNone/>
            </a:pPr>
            <a:r>
              <a:rPr lang="en-US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Roboto Condensed" pitchFamily="34" charset="-122"/>
                <a:cs typeface="Poppins" panose="00000500000000000000" pitchFamily="2" charset="0"/>
              </a:rPr>
              <a:t>CONTRAINTES</a:t>
            </a:r>
          </a:p>
          <a:p>
            <a:pPr marL="0" indent="0" algn="l">
              <a:buNone/>
            </a:pPr>
            <a:r>
              <a:rPr lang="en-US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Roboto Condensed" pitchFamily="34" charset="-122"/>
                <a:cs typeface="Poppins" panose="00000500000000000000" pitchFamily="2" charset="0"/>
              </a:rPr>
              <a:t>ENVIRONNEMENTS</a:t>
            </a:r>
          </a:p>
        </p:txBody>
      </p:sp>
    </p:spTree>
    <p:extLst>
      <p:ext uri="{BB962C8B-B14F-4D97-AF65-F5344CB8AC3E}">
        <p14:creationId xmlns:p14="http://schemas.microsoft.com/office/powerpoint/2010/main" val="1893359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ferris dir="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1">
            <a:extLst>
              <a:ext uri="{FF2B5EF4-FFF2-40B4-BE49-F238E27FC236}">
                <a16:creationId xmlns:a16="http://schemas.microsoft.com/office/drawing/2014/main" id="{E68205CA-D2DF-D3C6-1FF1-2A0FF82F06FD}"/>
              </a:ext>
            </a:extLst>
          </p:cNvPr>
          <p:cNvSpPr/>
          <p:nvPr/>
        </p:nvSpPr>
        <p:spPr>
          <a:xfrm>
            <a:off x="5289629" y="5357286"/>
            <a:ext cx="8351943" cy="2376094"/>
          </a:xfrm>
          <a:prstGeom prst="roundRect">
            <a:avLst>
              <a:gd name="adj" fmla="val 1033"/>
            </a:avLst>
          </a:prstGeom>
          <a:solidFill>
            <a:srgbClr val="D8D9D2"/>
          </a:solidFill>
          <a:ln/>
        </p:spPr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15941783-8633-8B97-C7B0-7E7E0433168A}"/>
              </a:ext>
            </a:extLst>
          </p:cNvPr>
          <p:cNvSpPr/>
          <p:nvPr/>
        </p:nvSpPr>
        <p:spPr>
          <a:xfrm>
            <a:off x="1770926" y="1574152"/>
            <a:ext cx="11870646" cy="3472410"/>
          </a:xfrm>
          <a:prstGeom prst="roundRect">
            <a:avLst>
              <a:gd name="adj" fmla="val 1033"/>
            </a:avLst>
          </a:prstGeom>
          <a:solidFill>
            <a:srgbClr val="D8D9D2"/>
          </a:solidFill>
          <a:ln/>
        </p:spPr>
      </p:sp>
      <p:sp>
        <p:nvSpPr>
          <p:cNvPr id="2" name="Text 0"/>
          <p:cNvSpPr/>
          <p:nvPr/>
        </p:nvSpPr>
        <p:spPr>
          <a:xfrm>
            <a:off x="793790" y="538222"/>
            <a:ext cx="669036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5550"/>
              </a:lnSpc>
            </a:pPr>
            <a:r>
              <a:rPr lang="en-US" sz="445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PRÉSENTATIONS</a:t>
            </a:r>
          </a:p>
        </p:txBody>
      </p:sp>
      <p:sp>
        <p:nvSpPr>
          <p:cNvPr id="3" name="Text 1"/>
          <p:cNvSpPr/>
          <p:nvPr/>
        </p:nvSpPr>
        <p:spPr>
          <a:xfrm>
            <a:off x="5724606" y="5533349"/>
            <a:ext cx="756999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PRÉSENTATION DE LA COMMUNAUTE DE F1</a:t>
            </a:r>
          </a:p>
        </p:txBody>
      </p:sp>
      <p:sp>
        <p:nvSpPr>
          <p:cNvPr id="4" name="Text 2"/>
          <p:cNvSpPr/>
          <p:nvPr/>
        </p:nvSpPr>
        <p:spPr>
          <a:xfrm>
            <a:off x="5477720" y="5894850"/>
            <a:ext cx="8842579" cy="1760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Championnat créé en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2008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2 catégories 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F1 et F2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Courses organisées 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en ligne, deux soirs par semaine, avec le jeu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F1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sur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PlayStation 5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Joueurs équipés 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d’un casque-micro, d’un volant et d’un </a:t>
            </a:r>
            <a:r>
              <a:rPr lang="fr-FR" sz="17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playseat</a:t>
            </a: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1794CC0C-AE4D-1A71-55C1-AA5AF7F4062E}"/>
              </a:ext>
            </a:extLst>
          </p:cNvPr>
          <p:cNvSpPr/>
          <p:nvPr/>
        </p:nvSpPr>
        <p:spPr>
          <a:xfrm>
            <a:off x="2252200" y="1821094"/>
            <a:ext cx="756999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PRÉSENTATION PERSONNELLE</a:t>
            </a: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81E45456-72D5-7FEF-8D32-C500D4CA338E}"/>
              </a:ext>
            </a:extLst>
          </p:cNvPr>
          <p:cNvSpPr/>
          <p:nvPr/>
        </p:nvSpPr>
        <p:spPr>
          <a:xfrm>
            <a:off x="2005314" y="2288926"/>
            <a:ext cx="10955774" cy="264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37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ans, originaire de Montpellier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Commercial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(11 ans) et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boulanger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(3 ans)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Passionné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d’informatique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Faire de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ma passion 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un véritable projet de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reconversion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2016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: Intégration à la communauté de F1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2024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: Commissaire de piste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1B1FFB8-56DB-BD8E-64DF-0BA799F3D0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544" y="5381356"/>
            <a:ext cx="4521451" cy="2352024"/>
          </a:xfrm>
          <a:prstGeom prst="roundRect">
            <a:avLst>
              <a:gd name="adj" fmla="val 5536"/>
            </a:avLst>
          </a:prstGeom>
        </p:spPr>
      </p:pic>
    </p:spTree>
    <p:extLst>
      <p:ext uri="{BB962C8B-B14F-4D97-AF65-F5344CB8AC3E}">
        <p14:creationId xmlns:p14="http://schemas.microsoft.com/office/powerpoint/2010/main" val="3979890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C36BA-A467-F123-0795-8DFC72D00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1">
            <a:extLst>
              <a:ext uri="{FF2B5EF4-FFF2-40B4-BE49-F238E27FC236}">
                <a16:creationId xmlns:a16="http://schemas.microsoft.com/office/drawing/2014/main" id="{C3B0EE39-A229-6FEF-D4C1-A4B621016DBB}"/>
              </a:ext>
            </a:extLst>
          </p:cNvPr>
          <p:cNvSpPr/>
          <p:nvPr/>
        </p:nvSpPr>
        <p:spPr>
          <a:xfrm>
            <a:off x="5289629" y="5357286"/>
            <a:ext cx="7917085" cy="2376094"/>
          </a:xfrm>
          <a:prstGeom prst="roundRect">
            <a:avLst>
              <a:gd name="adj" fmla="val 1033"/>
            </a:avLst>
          </a:prstGeom>
          <a:solidFill>
            <a:srgbClr val="D8D9D2"/>
          </a:solidFill>
          <a:ln/>
        </p:spPr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B11E64FE-F8A5-6C8E-DE90-42FFC11F86CD}"/>
              </a:ext>
            </a:extLst>
          </p:cNvPr>
          <p:cNvSpPr/>
          <p:nvPr/>
        </p:nvSpPr>
        <p:spPr>
          <a:xfrm>
            <a:off x="1770926" y="1574152"/>
            <a:ext cx="11435787" cy="3472410"/>
          </a:xfrm>
          <a:prstGeom prst="roundRect">
            <a:avLst>
              <a:gd name="adj" fmla="val 1033"/>
            </a:avLst>
          </a:prstGeom>
          <a:solidFill>
            <a:srgbClr val="D8D9D2"/>
          </a:solidFill>
          <a:ln/>
        </p:spPr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A79C6D1B-D873-8C8B-F447-283F19C263EE}"/>
              </a:ext>
            </a:extLst>
          </p:cNvPr>
          <p:cNvSpPr/>
          <p:nvPr/>
        </p:nvSpPr>
        <p:spPr>
          <a:xfrm>
            <a:off x="793790" y="538222"/>
            <a:ext cx="669036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5550"/>
              </a:lnSpc>
            </a:pPr>
            <a:r>
              <a:rPr lang="en-US" sz="445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BESOINS &amp; ENJEUX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A6A6443-EBAE-2394-B8E6-B2E01B7BF53B}"/>
              </a:ext>
            </a:extLst>
          </p:cNvPr>
          <p:cNvSpPr/>
          <p:nvPr/>
        </p:nvSpPr>
        <p:spPr>
          <a:xfrm>
            <a:off x="5724606" y="5448285"/>
            <a:ext cx="756999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ENJEUX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7D655D2-6782-00F7-7CDE-165C8AA56607}"/>
              </a:ext>
            </a:extLst>
          </p:cNvPr>
          <p:cNvSpPr/>
          <p:nvPr/>
        </p:nvSpPr>
        <p:spPr>
          <a:xfrm>
            <a:off x="5477720" y="5626205"/>
            <a:ext cx="8842579" cy="225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Créer d’une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base de données 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dynamique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Automatiser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ces calculs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Vitrine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SEO</a:t>
            </a: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639FC5C0-21D4-41B1-150C-192C21FD28FA}"/>
              </a:ext>
            </a:extLst>
          </p:cNvPr>
          <p:cNvSpPr/>
          <p:nvPr/>
        </p:nvSpPr>
        <p:spPr>
          <a:xfrm>
            <a:off x="2252200" y="1672232"/>
            <a:ext cx="756999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BESOINS</a:t>
            </a: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AFF7B104-578A-CBFB-A0BE-867359B70C59}"/>
              </a:ext>
            </a:extLst>
          </p:cNvPr>
          <p:cNvSpPr/>
          <p:nvPr/>
        </p:nvSpPr>
        <p:spPr>
          <a:xfrm>
            <a:off x="2005314" y="2000627"/>
            <a:ext cx="8842579" cy="3161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Classements gérés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manuellement</a:t>
            </a: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Processus répétitif et sujet à des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erreurs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Résultats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peu lisibles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Communauté gérée sur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Discord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Non référencée 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et difficulté pour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recruter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de nouveaux pilotes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C917FD5F-CC82-A305-8D24-A6C8AA9CB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101" y="5357286"/>
            <a:ext cx="4627280" cy="2334092"/>
          </a:xfrm>
          <a:prstGeom prst="roundRect">
            <a:avLst>
              <a:gd name="adj" fmla="val 5536"/>
            </a:avLst>
          </a:prstGeom>
        </p:spPr>
      </p:pic>
    </p:spTree>
    <p:extLst>
      <p:ext uri="{BB962C8B-B14F-4D97-AF65-F5344CB8AC3E}">
        <p14:creationId xmlns:p14="http://schemas.microsoft.com/office/powerpoint/2010/main" val="1838386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2E77A-2BC2-3B63-0AF1-CA8FF1225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>
            <a:extLst>
              <a:ext uri="{FF2B5EF4-FFF2-40B4-BE49-F238E27FC236}">
                <a16:creationId xmlns:a16="http://schemas.microsoft.com/office/drawing/2014/main" id="{609A6D2C-90AF-721E-F7E4-190416F3457A}"/>
              </a:ext>
            </a:extLst>
          </p:cNvPr>
          <p:cNvSpPr/>
          <p:nvPr/>
        </p:nvSpPr>
        <p:spPr>
          <a:xfrm>
            <a:off x="782738" y="1284782"/>
            <a:ext cx="13064924" cy="2106598"/>
          </a:xfrm>
          <a:prstGeom prst="roundRect">
            <a:avLst>
              <a:gd name="adj" fmla="val 1033"/>
            </a:avLst>
          </a:prstGeom>
          <a:solidFill>
            <a:srgbClr val="D8D9D2"/>
          </a:solidFill>
          <a:ln/>
        </p:spPr>
      </p:sp>
      <p:sp>
        <p:nvSpPr>
          <p:cNvPr id="16" name="Shape 1">
            <a:extLst>
              <a:ext uri="{FF2B5EF4-FFF2-40B4-BE49-F238E27FC236}">
                <a16:creationId xmlns:a16="http://schemas.microsoft.com/office/drawing/2014/main" id="{84C53ABF-D9F1-707C-A6A6-28361306D4E2}"/>
              </a:ext>
            </a:extLst>
          </p:cNvPr>
          <p:cNvSpPr/>
          <p:nvPr/>
        </p:nvSpPr>
        <p:spPr>
          <a:xfrm>
            <a:off x="793790" y="3602785"/>
            <a:ext cx="13064924" cy="2106598"/>
          </a:xfrm>
          <a:prstGeom prst="roundRect">
            <a:avLst>
              <a:gd name="adj" fmla="val 1033"/>
            </a:avLst>
          </a:prstGeom>
          <a:solidFill>
            <a:srgbClr val="D8D9D2"/>
          </a:solidFill>
          <a:ln/>
        </p:spPr>
      </p:sp>
      <p:sp>
        <p:nvSpPr>
          <p:cNvPr id="17" name="Shape 1">
            <a:extLst>
              <a:ext uri="{FF2B5EF4-FFF2-40B4-BE49-F238E27FC236}">
                <a16:creationId xmlns:a16="http://schemas.microsoft.com/office/drawing/2014/main" id="{08DF2BB1-F05F-1ACF-426C-61BFE3BA5A16}"/>
              </a:ext>
            </a:extLst>
          </p:cNvPr>
          <p:cNvSpPr/>
          <p:nvPr/>
        </p:nvSpPr>
        <p:spPr>
          <a:xfrm>
            <a:off x="793790" y="5920788"/>
            <a:ext cx="13064924" cy="2106598"/>
          </a:xfrm>
          <a:prstGeom prst="roundRect">
            <a:avLst>
              <a:gd name="adj" fmla="val 1033"/>
            </a:avLst>
          </a:prstGeom>
          <a:solidFill>
            <a:srgbClr val="D8D9D2"/>
          </a:solidFill>
          <a:ln/>
        </p:spPr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13669E3E-0BF0-8FE0-CF23-1DC7EEFB821F}"/>
              </a:ext>
            </a:extLst>
          </p:cNvPr>
          <p:cNvSpPr/>
          <p:nvPr/>
        </p:nvSpPr>
        <p:spPr>
          <a:xfrm>
            <a:off x="793790" y="538222"/>
            <a:ext cx="669036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5550"/>
              </a:lnSpc>
            </a:pPr>
            <a:r>
              <a:rPr lang="en-US" sz="445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CAHIER DES CHARGES</a:t>
            </a: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09F36179-CC56-16CE-EE43-5E1E4AD46279}"/>
              </a:ext>
            </a:extLst>
          </p:cNvPr>
          <p:cNvSpPr/>
          <p:nvPr/>
        </p:nvSpPr>
        <p:spPr>
          <a:xfrm>
            <a:off x="1074475" y="1400531"/>
            <a:ext cx="756999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PLAN D’ARCHITECTURE</a:t>
            </a: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93836432-1245-8C8D-B17B-CF680A786941}"/>
              </a:ext>
            </a:extLst>
          </p:cNvPr>
          <p:cNvSpPr/>
          <p:nvPr/>
        </p:nvSpPr>
        <p:spPr>
          <a:xfrm>
            <a:off x="1290578" y="1717352"/>
            <a:ext cx="12265347" cy="1604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Page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Accueil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(SEO, lien nous rejoindre)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Page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Classements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(BDD)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Page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Mentions légales 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(RGPD)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Dashboard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sécurisé</a:t>
            </a: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2F8557E2-5D8B-F282-E56D-55A4DA685DE5}"/>
              </a:ext>
            </a:extLst>
          </p:cNvPr>
          <p:cNvSpPr/>
          <p:nvPr/>
        </p:nvSpPr>
        <p:spPr>
          <a:xfrm>
            <a:off x="1074475" y="3708201"/>
            <a:ext cx="756999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PLAN FONCTIONNEL</a:t>
            </a: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17DA0267-B6CC-168C-F911-7AC851D05B24}"/>
              </a:ext>
            </a:extLst>
          </p:cNvPr>
          <p:cNvSpPr/>
          <p:nvPr/>
        </p:nvSpPr>
        <p:spPr>
          <a:xfrm>
            <a:off x="1290578" y="4025022"/>
            <a:ext cx="12265347" cy="1604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Gestion des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rôles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Sécurisation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des formulaires et des sessions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Respect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RGPD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et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accessibilité</a:t>
            </a:r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1CDFFCAF-02D4-E0EB-448E-177746CC9F92}"/>
              </a:ext>
            </a:extLst>
          </p:cNvPr>
          <p:cNvSpPr/>
          <p:nvPr/>
        </p:nvSpPr>
        <p:spPr>
          <a:xfrm>
            <a:off x="1074475" y="6026204"/>
            <a:ext cx="756999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PLAN TECHNIQUE</a:t>
            </a:r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3EEE94CE-CC66-9200-9527-3E66FECB0839}"/>
              </a:ext>
            </a:extLst>
          </p:cNvPr>
          <p:cNvSpPr/>
          <p:nvPr/>
        </p:nvSpPr>
        <p:spPr>
          <a:xfrm>
            <a:off x="1290578" y="6343025"/>
            <a:ext cx="12265347" cy="1604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PHP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en architecture MVC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MySQL</a:t>
            </a: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HTML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,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CSS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et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JavaScript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</a:t>
            </a:r>
            <a:r>
              <a:rPr lang="fr-FR" sz="1750" b="1" dirty="0">
                <a:solidFill>
                  <a:srgbClr val="E10600"/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(voir annexe p.48)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Versioning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Git/GitHub</a:t>
            </a: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E20A52CB-F1D3-0998-9E66-90E616644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7055" y="6050946"/>
            <a:ext cx="2639895" cy="1850365"/>
          </a:xfrm>
          <a:prstGeom prst="roundRect">
            <a:avLst>
              <a:gd name="adj" fmla="val 5536"/>
            </a:avLst>
          </a:prstGeom>
        </p:spPr>
      </p:pic>
    </p:spTree>
    <p:extLst>
      <p:ext uri="{BB962C8B-B14F-4D97-AF65-F5344CB8AC3E}">
        <p14:creationId xmlns:p14="http://schemas.microsoft.com/office/powerpoint/2010/main" val="157860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AC52A-96A1-8538-408A-C0EDFDA98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>
            <a:extLst>
              <a:ext uri="{FF2B5EF4-FFF2-40B4-BE49-F238E27FC236}">
                <a16:creationId xmlns:a16="http://schemas.microsoft.com/office/drawing/2014/main" id="{7F878799-E140-D85A-4508-EBD38816579C}"/>
              </a:ext>
            </a:extLst>
          </p:cNvPr>
          <p:cNvSpPr/>
          <p:nvPr/>
        </p:nvSpPr>
        <p:spPr>
          <a:xfrm>
            <a:off x="537299" y="1284782"/>
            <a:ext cx="4321697" cy="4344826"/>
          </a:xfrm>
          <a:prstGeom prst="roundRect">
            <a:avLst>
              <a:gd name="adj" fmla="val 1033"/>
            </a:avLst>
          </a:prstGeom>
          <a:solidFill>
            <a:srgbClr val="D8D9D2"/>
          </a:solidFill>
          <a:ln/>
        </p:spPr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52E398F4-D094-7CB7-B98A-56E03B68EC37}"/>
              </a:ext>
            </a:extLst>
          </p:cNvPr>
          <p:cNvSpPr/>
          <p:nvPr/>
        </p:nvSpPr>
        <p:spPr>
          <a:xfrm>
            <a:off x="5150734" y="1284782"/>
            <a:ext cx="4321697" cy="4344826"/>
          </a:xfrm>
          <a:prstGeom prst="roundRect">
            <a:avLst>
              <a:gd name="adj" fmla="val 1033"/>
            </a:avLst>
          </a:prstGeom>
          <a:solidFill>
            <a:srgbClr val="D8D9D2"/>
          </a:solidFill>
          <a:ln/>
        </p:spPr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0D461A54-E80B-5BF4-1F7C-1985706413CC}"/>
              </a:ext>
            </a:extLst>
          </p:cNvPr>
          <p:cNvSpPr/>
          <p:nvPr/>
        </p:nvSpPr>
        <p:spPr>
          <a:xfrm>
            <a:off x="9764169" y="1284782"/>
            <a:ext cx="4321697" cy="4344826"/>
          </a:xfrm>
          <a:prstGeom prst="roundRect">
            <a:avLst>
              <a:gd name="adj" fmla="val 1033"/>
            </a:avLst>
          </a:prstGeom>
          <a:solidFill>
            <a:srgbClr val="D8D9D2"/>
          </a:solidFill>
          <a:ln/>
        </p:spPr>
      </p:sp>
      <p:sp>
        <p:nvSpPr>
          <p:cNvPr id="17" name="Shape 1">
            <a:extLst>
              <a:ext uri="{FF2B5EF4-FFF2-40B4-BE49-F238E27FC236}">
                <a16:creationId xmlns:a16="http://schemas.microsoft.com/office/drawing/2014/main" id="{52AD1633-7F8C-6A7C-A377-903CF5B70D43}"/>
              </a:ext>
            </a:extLst>
          </p:cNvPr>
          <p:cNvSpPr/>
          <p:nvPr/>
        </p:nvSpPr>
        <p:spPr>
          <a:xfrm>
            <a:off x="537299" y="5920788"/>
            <a:ext cx="13548567" cy="2106598"/>
          </a:xfrm>
          <a:prstGeom prst="roundRect">
            <a:avLst>
              <a:gd name="adj" fmla="val 1033"/>
            </a:avLst>
          </a:prstGeom>
          <a:solidFill>
            <a:srgbClr val="D8D9D2"/>
          </a:solidFill>
          <a:ln/>
        </p:spPr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1AB83B55-7536-929D-1986-D18EE77CE658}"/>
              </a:ext>
            </a:extLst>
          </p:cNvPr>
          <p:cNvSpPr/>
          <p:nvPr/>
        </p:nvSpPr>
        <p:spPr>
          <a:xfrm>
            <a:off x="793790" y="538222"/>
            <a:ext cx="669036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5550"/>
              </a:lnSpc>
            </a:pPr>
            <a:r>
              <a:rPr lang="en-US" sz="445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CONTRAINTES</a:t>
            </a: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30F1B81B-FACE-D2E5-7ED2-8AD3C2FF0FEC}"/>
              </a:ext>
            </a:extLst>
          </p:cNvPr>
          <p:cNvSpPr/>
          <p:nvPr/>
        </p:nvSpPr>
        <p:spPr>
          <a:xfrm>
            <a:off x="692508" y="1585728"/>
            <a:ext cx="4166488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TECHNIQUE</a:t>
            </a: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390CEC40-B281-12A5-8E69-3B9BD4327033}"/>
              </a:ext>
            </a:extLst>
          </p:cNvPr>
          <p:cNvSpPr/>
          <p:nvPr/>
        </p:nvSpPr>
        <p:spPr>
          <a:xfrm>
            <a:off x="908611" y="2203487"/>
            <a:ext cx="3950385" cy="391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Architecture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MVC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Sécurisation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HTTPS</a:t>
            </a: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Base de données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MySQL</a:t>
            </a: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E38B76A3-5B50-B26A-7FCD-B597F3A2A9F4}"/>
              </a:ext>
            </a:extLst>
          </p:cNvPr>
          <p:cNvSpPr/>
          <p:nvPr/>
        </p:nvSpPr>
        <p:spPr>
          <a:xfrm>
            <a:off x="1074475" y="6084079"/>
            <a:ext cx="756999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LIVRABLES ATTENDUS</a:t>
            </a:r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28FC590F-8867-1172-B2A3-1F5683BBD29C}"/>
              </a:ext>
            </a:extLst>
          </p:cNvPr>
          <p:cNvSpPr/>
          <p:nvPr/>
        </p:nvSpPr>
        <p:spPr>
          <a:xfrm>
            <a:off x="1290578" y="6343025"/>
            <a:ext cx="12265347" cy="1604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Code source 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complet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Base de données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exportée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(.</a:t>
            </a:r>
            <a:r>
              <a:rPr lang="fr-FR" sz="17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sql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)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README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détaillé</a:t>
            </a: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9F0516D9-CF32-0960-A92A-9E63D77565E5}"/>
              </a:ext>
            </a:extLst>
          </p:cNvPr>
          <p:cNvSpPr/>
          <p:nvPr/>
        </p:nvSpPr>
        <p:spPr>
          <a:xfrm>
            <a:off x="5305943" y="1585728"/>
            <a:ext cx="4166488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FONCTIONNELLE</a:t>
            </a: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E462362B-EF6A-0174-CB7A-01CD7EB9413A}"/>
              </a:ext>
            </a:extLst>
          </p:cNvPr>
          <p:cNvSpPr/>
          <p:nvPr/>
        </p:nvSpPr>
        <p:spPr>
          <a:xfrm>
            <a:off x="5522046" y="2203487"/>
            <a:ext cx="3950385" cy="391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Automatisation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des classements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Accès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sécurisé</a:t>
            </a: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Affichage des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résultats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et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filtres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pour les classements</a:t>
            </a: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78BBB4F9-CE75-3827-C11D-55041346E7CF}"/>
              </a:ext>
            </a:extLst>
          </p:cNvPr>
          <p:cNvSpPr/>
          <p:nvPr/>
        </p:nvSpPr>
        <p:spPr>
          <a:xfrm>
            <a:off x="9919378" y="1585728"/>
            <a:ext cx="4166488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DESIGN ET ACCESSIBILTE</a:t>
            </a:r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93B88562-AEC6-A4E8-D473-488651922EB3}"/>
              </a:ext>
            </a:extLst>
          </p:cNvPr>
          <p:cNvSpPr/>
          <p:nvPr/>
        </p:nvSpPr>
        <p:spPr>
          <a:xfrm>
            <a:off x="10135481" y="2203487"/>
            <a:ext cx="3950385" cy="391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Design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responsive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mobile-first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Contraste et lisibilité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optimisés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Navigation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clavier</a:t>
            </a: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E03A7BC3-3B85-5438-55E5-628C4925D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7856" y="6296725"/>
            <a:ext cx="5603039" cy="1336238"/>
          </a:xfrm>
          <a:prstGeom prst="roundRect">
            <a:avLst>
              <a:gd name="adj" fmla="val 5536"/>
            </a:avLst>
          </a:prstGeom>
        </p:spPr>
      </p:pic>
    </p:spTree>
    <p:extLst>
      <p:ext uri="{BB962C8B-B14F-4D97-AF65-F5344CB8AC3E}">
        <p14:creationId xmlns:p14="http://schemas.microsoft.com/office/powerpoint/2010/main" val="1216459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CAF80-4E1F-3C24-3F5F-2D4BC5D57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>
            <a:extLst>
              <a:ext uri="{FF2B5EF4-FFF2-40B4-BE49-F238E27FC236}">
                <a16:creationId xmlns:a16="http://schemas.microsoft.com/office/drawing/2014/main" id="{A513512E-73A0-58D8-F03A-A5E4AF0806EC}"/>
              </a:ext>
            </a:extLst>
          </p:cNvPr>
          <p:cNvSpPr/>
          <p:nvPr/>
        </p:nvSpPr>
        <p:spPr>
          <a:xfrm>
            <a:off x="782738" y="1551007"/>
            <a:ext cx="13064924" cy="1423694"/>
          </a:xfrm>
          <a:prstGeom prst="roundRect">
            <a:avLst>
              <a:gd name="adj" fmla="val 1033"/>
            </a:avLst>
          </a:prstGeom>
          <a:solidFill>
            <a:srgbClr val="D8D9D2"/>
          </a:solidFill>
          <a:ln/>
        </p:spPr>
      </p:sp>
      <p:sp>
        <p:nvSpPr>
          <p:cNvPr id="16" name="Shape 1">
            <a:extLst>
              <a:ext uri="{FF2B5EF4-FFF2-40B4-BE49-F238E27FC236}">
                <a16:creationId xmlns:a16="http://schemas.microsoft.com/office/drawing/2014/main" id="{67744AA9-795B-6E10-4C35-AF989DFA8748}"/>
              </a:ext>
            </a:extLst>
          </p:cNvPr>
          <p:cNvSpPr/>
          <p:nvPr/>
        </p:nvSpPr>
        <p:spPr>
          <a:xfrm>
            <a:off x="793790" y="3429170"/>
            <a:ext cx="13064924" cy="4175405"/>
          </a:xfrm>
          <a:prstGeom prst="roundRect">
            <a:avLst>
              <a:gd name="adj" fmla="val 1033"/>
            </a:avLst>
          </a:prstGeom>
          <a:solidFill>
            <a:srgbClr val="D8D9D2"/>
          </a:solidFill>
          <a:ln/>
        </p:spPr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9286D40B-E514-1813-1377-1239C81D7027}"/>
              </a:ext>
            </a:extLst>
          </p:cNvPr>
          <p:cNvSpPr/>
          <p:nvPr/>
        </p:nvSpPr>
        <p:spPr>
          <a:xfrm>
            <a:off x="793790" y="538222"/>
            <a:ext cx="669036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5550"/>
              </a:lnSpc>
            </a:pPr>
            <a:r>
              <a:rPr lang="en-US" sz="445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ENVIRONNEMENTS</a:t>
            </a: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3F52B8B8-F321-D118-1F75-86533AE74DFF}"/>
              </a:ext>
            </a:extLst>
          </p:cNvPr>
          <p:cNvSpPr/>
          <p:nvPr/>
        </p:nvSpPr>
        <p:spPr>
          <a:xfrm>
            <a:off x="1074475" y="1666756"/>
            <a:ext cx="756999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ENVIRONNEMENT HUMAIN</a:t>
            </a: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D7270960-C8D0-DE56-6720-DE57565A81D6}"/>
              </a:ext>
            </a:extLst>
          </p:cNvPr>
          <p:cNvSpPr/>
          <p:nvPr/>
        </p:nvSpPr>
        <p:spPr>
          <a:xfrm>
            <a:off x="1290578" y="1983577"/>
            <a:ext cx="12265347" cy="991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Petite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communauté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de passionnés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Seul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à réaliser ce projet</a:t>
            </a: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A10176B4-6088-0B30-DBB3-85603AEFF0CB}"/>
              </a:ext>
            </a:extLst>
          </p:cNvPr>
          <p:cNvSpPr/>
          <p:nvPr/>
        </p:nvSpPr>
        <p:spPr>
          <a:xfrm>
            <a:off x="1074475" y="3534586"/>
            <a:ext cx="756999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ENVIRONNEMENT TECHNIQUE</a:t>
            </a: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5FFF7602-CFCB-23E3-2756-77C13086E870}"/>
              </a:ext>
            </a:extLst>
          </p:cNvPr>
          <p:cNvSpPr/>
          <p:nvPr/>
        </p:nvSpPr>
        <p:spPr>
          <a:xfrm>
            <a:off x="1290578" y="3851407"/>
            <a:ext cx="12265347" cy="3753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IDE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: Visual Studio Code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Développement local 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: </a:t>
            </a:r>
            <a:r>
              <a:rPr lang="fr-FR" sz="17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Wamp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Server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Versioning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: Git avec un dépôt GitHub public </a:t>
            </a:r>
            <a:r>
              <a:rPr lang="fr-FR" sz="1750" b="1" dirty="0">
                <a:solidFill>
                  <a:srgbClr val="E10600"/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(voir annexe p.60)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Hébergements distants 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: OVH pour les tests </a:t>
            </a:r>
            <a:r>
              <a:rPr lang="fr-FR" sz="1750" b="1" dirty="0">
                <a:solidFill>
                  <a:srgbClr val="E10600"/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(voir annexe p.60) </a:t>
            </a:r>
          </a:p>
          <a:p>
            <a:pPr>
              <a:lnSpc>
                <a:spcPct val="150000"/>
              </a:lnSpc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                                                    et O2SWITCH pour le déploiement final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Base de données 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: MySQL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Langages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: HTML, CSS, JavaScript et PHP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Navigateur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: Chrome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Matériel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: Ordinateur personnel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BB2D5CE-2A5B-E9A2-5F5E-9A2D1A098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1227" y="3621161"/>
            <a:ext cx="2664148" cy="3800782"/>
          </a:xfrm>
          <a:prstGeom prst="roundRect">
            <a:avLst>
              <a:gd name="adj" fmla="val 5536"/>
            </a:avLst>
          </a:prstGeom>
        </p:spPr>
      </p:pic>
    </p:spTree>
    <p:extLst>
      <p:ext uri="{BB962C8B-B14F-4D97-AF65-F5344CB8AC3E}">
        <p14:creationId xmlns:p14="http://schemas.microsoft.com/office/powerpoint/2010/main" val="2012055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75751-CB37-C8D2-FBD0-6D14FF20F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1">
            <a:extLst>
              <a:ext uri="{FF2B5EF4-FFF2-40B4-BE49-F238E27FC236}">
                <a16:creationId xmlns:a16="http://schemas.microsoft.com/office/drawing/2014/main" id="{1C888305-09D0-7FC1-FF50-47C91EC1B2ED}"/>
              </a:ext>
            </a:extLst>
          </p:cNvPr>
          <p:cNvSpPr/>
          <p:nvPr/>
        </p:nvSpPr>
        <p:spPr>
          <a:xfrm>
            <a:off x="793907" y="3935388"/>
            <a:ext cx="13042586" cy="3472410"/>
          </a:xfrm>
          <a:prstGeom prst="roundRect">
            <a:avLst>
              <a:gd name="adj" fmla="val 1033"/>
            </a:avLst>
          </a:prstGeom>
          <a:solidFill>
            <a:srgbClr val="D8D9D2"/>
          </a:solidFill>
          <a:ln/>
        </p:spPr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7B860D7F-CD17-D2C3-E041-08186EEFDAEE}"/>
              </a:ext>
            </a:extLst>
          </p:cNvPr>
          <p:cNvSpPr/>
          <p:nvPr/>
        </p:nvSpPr>
        <p:spPr>
          <a:xfrm>
            <a:off x="793908" y="3084644"/>
            <a:ext cx="128989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550"/>
              </a:lnSpc>
              <a:buNone/>
            </a:pPr>
            <a:endParaRPr lang="en-US" sz="4450" b="1" i="1" dirty="0">
              <a:solidFill>
                <a:srgbClr val="0C0D0F"/>
              </a:solidFill>
              <a:latin typeface="Poppins" panose="00000500000000000000" pitchFamily="2" charset="0"/>
              <a:ea typeface="Hubot Sans Bold" pitchFamily="34" charset="-122"/>
              <a:cs typeface="Poppins" panose="00000500000000000000" pitchFamily="2" charset="0"/>
            </a:endParaRPr>
          </a:p>
          <a:p>
            <a:pPr marL="0" indent="0" algn="l">
              <a:lnSpc>
                <a:spcPts val="5550"/>
              </a:lnSpc>
              <a:buNone/>
            </a:pPr>
            <a:r>
              <a:rPr lang="en-US" sz="445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ÉLÉMENTS CÔTÉ FRONT-END</a:t>
            </a:r>
          </a:p>
          <a:p>
            <a:pPr marL="0" indent="0" algn="l">
              <a:lnSpc>
                <a:spcPts val="5550"/>
              </a:lnSpc>
              <a:buNone/>
            </a:pPr>
            <a:endParaRPr lang="en-US" sz="4450" b="1" i="1" dirty="0">
              <a:solidFill>
                <a:srgbClr val="0C0D0F"/>
              </a:solidFill>
              <a:latin typeface="Poppins" panose="00000500000000000000" pitchFamily="2" charset="0"/>
              <a:ea typeface="Hubot Sans Bold" pitchFamily="34" charset="-122"/>
              <a:cs typeface="Poppins" panose="00000500000000000000" pitchFamily="2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FA6AA30-9B1F-5A31-FE37-8D0FA0E33EC7}"/>
              </a:ext>
            </a:extLst>
          </p:cNvPr>
          <p:cNvSpPr/>
          <p:nvPr/>
        </p:nvSpPr>
        <p:spPr>
          <a:xfrm>
            <a:off x="793908" y="2593530"/>
            <a:ext cx="753656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5000" b="1" i="1" dirty="0">
                <a:solidFill>
                  <a:srgbClr val="E10600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02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2D18B2B-72AC-946A-791C-396652539DA8}"/>
              </a:ext>
            </a:extLst>
          </p:cNvPr>
          <p:cNvSpPr/>
          <p:nvPr/>
        </p:nvSpPr>
        <p:spPr>
          <a:xfrm>
            <a:off x="793908" y="2948574"/>
            <a:ext cx="4196358" cy="72000"/>
          </a:xfrm>
          <a:prstGeom prst="rect">
            <a:avLst/>
          </a:prstGeom>
          <a:solidFill>
            <a:srgbClr val="C8CAC1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1CC2E23-4EDB-6DCA-588A-90ECBA55FE1C}"/>
              </a:ext>
            </a:extLst>
          </p:cNvPr>
          <p:cNvSpPr/>
          <p:nvPr/>
        </p:nvSpPr>
        <p:spPr>
          <a:xfrm>
            <a:off x="1170736" y="4568621"/>
            <a:ext cx="12221173" cy="2376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Roboto Condensed" pitchFamily="34" charset="-122"/>
                <a:cs typeface="Poppins" panose="00000500000000000000" pitchFamily="2" charset="0"/>
              </a:rPr>
              <a:t>DESIGN</a:t>
            </a:r>
          </a:p>
          <a:p>
            <a:pPr marL="0" indent="0" algn="l">
              <a:buNone/>
            </a:pPr>
            <a:r>
              <a:rPr lang="en-US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Roboto Condensed" pitchFamily="34" charset="-122"/>
                <a:cs typeface="Poppins" panose="00000500000000000000" pitchFamily="2" charset="0"/>
              </a:rPr>
              <a:t>MAQUETTES</a:t>
            </a:r>
          </a:p>
          <a:p>
            <a:pPr marL="0" indent="0" algn="l">
              <a:buNone/>
            </a:pPr>
            <a:r>
              <a:rPr lang="en-US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Roboto Condensed" pitchFamily="34" charset="-122"/>
                <a:cs typeface="Poppins" panose="00000500000000000000" pitchFamily="2" charset="0"/>
              </a:rPr>
              <a:t>RESPONSIVE DESIGN</a:t>
            </a:r>
          </a:p>
          <a:p>
            <a:pPr marL="0" indent="0" algn="l">
              <a:buNone/>
            </a:pPr>
            <a:r>
              <a:rPr lang="en-US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Roboto Condensed" pitchFamily="34" charset="-122"/>
                <a:cs typeface="Poppins" panose="00000500000000000000" pitchFamily="2" charset="0"/>
              </a:rPr>
              <a:t>INTERFACES STATIQUES</a:t>
            </a:r>
          </a:p>
          <a:p>
            <a:pPr marL="0" indent="0" algn="l">
              <a:buNone/>
            </a:pPr>
            <a:r>
              <a:rPr lang="en-US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Roboto Condensed" pitchFamily="34" charset="-122"/>
                <a:cs typeface="Poppins" panose="00000500000000000000" pitchFamily="2" charset="0"/>
              </a:rPr>
              <a:t>INTERFACES DYNAMIQUES</a:t>
            </a:r>
          </a:p>
        </p:txBody>
      </p:sp>
    </p:spTree>
    <p:extLst>
      <p:ext uri="{BB962C8B-B14F-4D97-AF65-F5344CB8AC3E}">
        <p14:creationId xmlns:p14="http://schemas.microsoft.com/office/powerpoint/2010/main" val="3019206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ferris dir="r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D8A50-3143-6C56-3626-9783E3E86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>
            <a:extLst>
              <a:ext uri="{FF2B5EF4-FFF2-40B4-BE49-F238E27FC236}">
                <a16:creationId xmlns:a16="http://schemas.microsoft.com/office/drawing/2014/main" id="{429E4B04-1C2C-8D9D-04A2-0CCD5E30DA48}"/>
              </a:ext>
            </a:extLst>
          </p:cNvPr>
          <p:cNvSpPr/>
          <p:nvPr/>
        </p:nvSpPr>
        <p:spPr>
          <a:xfrm>
            <a:off x="782738" y="1551006"/>
            <a:ext cx="8462861" cy="5937813"/>
          </a:xfrm>
          <a:prstGeom prst="roundRect">
            <a:avLst>
              <a:gd name="adj" fmla="val 1033"/>
            </a:avLst>
          </a:prstGeom>
          <a:solidFill>
            <a:srgbClr val="D8D9D2"/>
          </a:solidFill>
          <a:ln/>
        </p:spPr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4B56747F-01F2-82FD-0000-14E1E49A69A5}"/>
              </a:ext>
            </a:extLst>
          </p:cNvPr>
          <p:cNvSpPr/>
          <p:nvPr/>
        </p:nvSpPr>
        <p:spPr>
          <a:xfrm>
            <a:off x="1290578" y="1983576"/>
            <a:ext cx="6719103" cy="5296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Inspiré du site officiel de la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Formule 1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Couleurs similaires 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et polices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Google Fonts 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proches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Formes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arrondies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des sections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  <a:p>
            <a:pPr>
              <a:lnSpc>
                <a:spcPct val="150000"/>
              </a:lnSpc>
            </a:pP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                      Noir pour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l’arrière-plan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                      Noir éclairci pour les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sections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                      Rouge pour les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boutons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et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en-têtes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de tableaux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Titillium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Web 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pour le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contenu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Roboto Condensed" pitchFamily="34" charset="-122"/>
                <a:cs typeface="Poppins" panose="00000500000000000000" pitchFamily="2" charset="0"/>
              </a:rPr>
              <a:t>POPPINS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pour les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titres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2D76F4E7-4B18-28B0-0233-BE034C601745}"/>
              </a:ext>
            </a:extLst>
          </p:cNvPr>
          <p:cNvSpPr/>
          <p:nvPr/>
        </p:nvSpPr>
        <p:spPr>
          <a:xfrm>
            <a:off x="1541416" y="4022804"/>
            <a:ext cx="1084219" cy="335666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#000000</a:t>
            </a: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AA594EE4-6AC4-9683-498A-27A2A461D86C}"/>
              </a:ext>
            </a:extLst>
          </p:cNvPr>
          <p:cNvSpPr/>
          <p:nvPr/>
        </p:nvSpPr>
        <p:spPr>
          <a:xfrm>
            <a:off x="793790" y="538222"/>
            <a:ext cx="669036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5550"/>
              </a:lnSpc>
            </a:pPr>
            <a:r>
              <a:rPr lang="en-US" sz="445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DESIGN</a:t>
            </a: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5473C737-D7C2-4FE4-D154-C9F0A298EA2C}"/>
              </a:ext>
            </a:extLst>
          </p:cNvPr>
          <p:cNvSpPr/>
          <p:nvPr/>
        </p:nvSpPr>
        <p:spPr>
          <a:xfrm>
            <a:off x="1074475" y="1666756"/>
            <a:ext cx="756999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CHARTE GRAPHIQUE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EF578198-AD05-EBBB-0D39-3AF84864F2AE}"/>
              </a:ext>
            </a:extLst>
          </p:cNvPr>
          <p:cNvSpPr/>
          <p:nvPr/>
        </p:nvSpPr>
        <p:spPr>
          <a:xfrm>
            <a:off x="1541415" y="4409795"/>
            <a:ext cx="1084219" cy="335666"/>
          </a:xfrm>
          <a:prstGeom prst="roundRect">
            <a:avLst/>
          </a:prstGeom>
          <a:solidFill>
            <a:srgbClr val="1515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#15151E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CA62BBD1-A3E1-9176-DE80-248EB59DA0B1}"/>
              </a:ext>
            </a:extLst>
          </p:cNvPr>
          <p:cNvSpPr/>
          <p:nvPr/>
        </p:nvSpPr>
        <p:spPr>
          <a:xfrm>
            <a:off x="1541416" y="4796786"/>
            <a:ext cx="1084219" cy="335666"/>
          </a:xfrm>
          <a:prstGeom prst="roundRect">
            <a:avLst/>
          </a:prstGeom>
          <a:solidFill>
            <a:srgbClr val="E10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#E10600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FA33B7F4-4925-7C67-3A5D-D3F25159FF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9197" y="1551005"/>
            <a:ext cx="4168465" cy="5937814"/>
          </a:xfrm>
          <a:prstGeom prst="roundRect">
            <a:avLst>
              <a:gd name="adj" fmla="val 5536"/>
            </a:avLst>
          </a:prstGeom>
        </p:spPr>
      </p:pic>
    </p:spTree>
    <p:extLst>
      <p:ext uri="{BB962C8B-B14F-4D97-AF65-F5344CB8AC3E}">
        <p14:creationId xmlns:p14="http://schemas.microsoft.com/office/powerpoint/2010/main" val="471992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4D74B-D0E5-5E89-6B55-8490FBED8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>
            <a:extLst>
              <a:ext uri="{FF2B5EF4-FFF2-40B4-BE49-F238E27FC236}">
                <a16:creationId xmlns:a16="http://schemas.microsoft.com/office/drawing/2014/main" id="{3BBB0D8E-7AA0-4DBF-4BA5-F24EC7C13675}"/>
              </a:ext>
            </a:extLst>
          </p:cNvPr>
          <p:cNvSpPr/>
          <p:nvPr/>
        </p:nvSpPr>
        <p:spPr>
          <a:xfrm>
            <a:off x="782738" y="1551006"/>
            <a:ext cx="8462861" cy="5937813"/>
          </a:xfrm>
          <a:prstGeom prst="roundRect">
            <a:avLst>
              <a:gd name="adj" fmla="val 1033"/>
            </a:avLst>
          </a:prstGeom>
          <a:solidFill>
            <a:srgbClr val="D8D9D2"/>
          </a:solidFill>
          <a:ln/>
        </p:spPr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FD84F070-0DDC-D29A-AD1C-B3FAD342F5A8}"/>
              </a:ext>
            </a:extLst>
          </p:cNvPr>
          <p:cNvSpPr/>
          <p:nvPr/>
        </p:nvSpPr>
        <p:spPr>
          <a:xfrm>
            <a:off x="1290578" y="2008976"/>
            <a:ext cx="7926709" cy="5296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Zoning</a:t>
            </a:r>
          </a:p>
          <a:p>
            <a:pPr>
              <a:lnSpc>
                <a:spcPct val="150000"/>
              </a:lnSpc>
            </a:pP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Wireframes</a:t>
            </a:r>
          </a:p>
          <a:p>
            <a:pPr>
              <a:lnSpc>
                <a:spcPct val="150000"/>
              </a:lnSpc>
            </a:pP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Prototype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Schéma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sur </a:t>
            </a:r>
            <a:r>
              <a:rPr lang="fr-FR" sz="17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GlooMaps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</a:t>
            </a:r>
            <a:r>
              <a:rPr lang="fr-FR" sz="1750" b="1" dirty="0">
                <a:solidFill>
                  <a:srgbClr val="E10600"/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(voir dossier p.9)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Simplification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de la navigation (choix UX)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Valider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la pertinence des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choix UX / UI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Avant de coder, cela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confirme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la bonne conception</a:t>
            </a: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81BDD56A-2555-DACD-3184-F4BE85CADD8D}"/>
              </a:ext>
            </a:extLst>
          </p:cNvPr>
          <p:cNvSpPr/>
          <p:nvPr/>
        </p:nvSpPr>
        <p:spPr>
          <a:xfrm>
            <a:off x="793790" y="538222"/>
            <a:ext cx="669036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5550"/>
              </a:lnSpc>
            </a:pPr>
            <a:r>
              <a:rPr lang="en-US" sz="445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MAQUETTES</a:t>
            </a: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C67D41C6-2E66-820F-CC2E-79E9DEE425A0}"/>
              </a:ext>
            </a:extLst>
          </p:cNvPr>
          <p:cNvSpPr/>
          <p:nvPr/>
        </p:nvSpPr>
        <p:spPr>
          <a:xfrm>
            <a:off x="1074475" y="1666756"/>
            <a:ext cx="756999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FIGMA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051D52F-9F53-246C-DF45-31281A447B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9139" y="2092047"/>
            <a:ext cx="1930499" cy="2730640"/>
          </a:xfrm>
          <a:prstGeom prst="roundRect">
            <a:avLst>
              <a:gd name="adj" fmla="val 5536"/>
            </a:avLst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378F6D3B-BD22-EC76-76DD-68FF002907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3741" y="2092047"/>
            <a:ext cx="1917799" cy="2743341"/>
          </a:xfrm>
          <a:prstGeom prst="roundRect">
            <a:avLst>
              <a:gd name="adj" fmla="val 5536"/>
            </a:avLst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F94E1812-D8CE-5ACF-531C-FED79B97BA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9050" y="2092188"/>
            <a:ext cx="2590801" cy="2743200"/>
          </a:xfrm>
          <a:prstGeom prst="roundRect">
            <a:avLst>
              <a:gd name="adj" fmla="val 5536"/>
            </a:avLst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2B7461DB-06D7-1902-A31D-AC9BDF8292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52669" y="1552419"/>
            <a:ext cx="1800383" cy="5936400"/>
          </a:xfrm>
          <a:prstGeom prst="roundRect">
            <a:avLst>
              <a:gd name="adj" fmla="val 5536"/>
            </a:avLst>
          </a:prstGeom>
        </p:spPr>
      </p:pic>
      <p:sp>
        <p:nvSpPr>
          <p:cNvPr id="18" name="Flèche : droite 17">
            <a:extLst>
              <a:ext uri="{FF2B5EF4-FFF2-40B4-BE49-F238E27FC236}">
                <a16:creationId xmlns:a16="http://schemas.microsoft.com/office/drawing/2014/main" id="{66A08844-1D58-BE81-801A-39B9A90CE783}"/>
              </a:ext>
            </a:extLst>
          </p:cNvPr>
          <p:cNvSpPr/>
          <p:nvPr/>
        </p:nvSpPr>
        <p:spPr>
          <a:xfrm>
            <a:off x="5436835" y="3109161"/>
            <a:ext cx="498862" cy="696412"/>
          </a:xfrm>
          <a:prstGeom prst="rightArrow">
            <a:avLst/>
          </a:prstGeom>
          <a:solidFill>
            <a:srgbClr val="1515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Flèche : droite 18">
            <a:extLst>
              <a:ext uri="{FF2B5EF4-FFF2-40B4-BE49-F238E27FC236}">
                <a16:creationId xmlns:a16="http://schemas.microsoft.com/office/drawing/2014/main" id="{45891942-E5C6-1FC7-CCC6-1B31327958EC}"/>
              </a:ext>
            </a:extLst>
          </p:cNvPr>
          <p:cNvSpPr/>
          <p:nvPr/>
        </p:nvSpPr>
        <p:spPr>
          <a:xfrm>
            <a:off x="8016949" y="3109161"/>
            <a:ext cx="498862" cy="696412"/>
          </a:xfrm>
          <a:prstGeom prst="rightArrow">
            <a:avLst/>
          </a:prstGeom>
          <a:solidFill>
            <a:srgbClr val="15151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CBB928D6-D87C-536B-CCE0-7CF857EEA016}"/>
              </a:ext>
            </a:extLst>
          </p:cNvPr>
          <p:cNvSpPr txBox="1"/>
          <p:nvPr/>
        </p:nvSpPr>
        <p:spPr>
          <a:xfrm>
            <a:off x="10254767" y="621283"/>
            <a:ext cx="3475532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800" b="1" dirty="0">
                <a:solidFill>
                  <a:srgbClr val="E10600"/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(voir dossier p.6 et annexe p.</a:t>
            </a:r>
            <a:r>
              <a:rPr lang="fr-FR" b="1" dirty="0">
                <a:solidFill>
                  <a:srgbClr val="E10600"/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38</a:t>
            </a:r>
            <a:r>
              <a:rPr lang="fr-FR" sz="1800" b="1" dirty="0">
                <a:solidFill>
                  <a:srgbClr val="E10600"/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2176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CC354-BEF5-490A-5A64-076E93297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>
            <a:extLst>
              <a:ext uri="{FF2B5EF4-FFF2-40B4-BE49-F238E27FC236}">
                <a16:creationId xmlns:a16="http://schemas.microsoft.com/office/drawing/2014/main" id="{AC452B8E-B069-F70A-C207-201791B41270}"/>
              </a:ext>
            </a:extLst>
          </p:cNvPr>
          <p:cNvSpPr/>
          <p:nvPr/>
        </p:nvSpPr>
        <p:spPr>
          <a:xfrm>
            <a:off x="782739" y="1551006"/>
            <a:ext cx="7726262" cy="5937813"/>
          </a:xfrm>
          <a:prstGeom prst="roundRect">
            <a:avLst>
              <a:gd name="adj" fmla="val 1033"/>
            </a:avLst>
          </a:prstGeom>
          <a:solidFill>
            <a:srgbClr val="D8D9D2"/>
          </a:solidFill>
          <a:ln/>
        </p:spPr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02923771-1FD4-60BA-5B76-42B96F7ECE47}"/>
              </a:ext>
            </a:extLst>
          </p:cNvPr>
          <p:cNvSpPr/>
          <p:nvPr/>
        </p:nvSpPr>
        <p:spPr>
          <a:xfrm>
            <a:off x="1290578" y="2008976"/>
            <a:ext cx="7218423" cy="5783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HTML : 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Appel des classes et feuilles de style CSS :</a:t>
            </a:r>
          </a:p>
          <a:p>
            <a:pPr>
              <a:lnSpc>
                <a:spcPct val="150000"/>
              </a:lnSpc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                   style.css    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+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  &lt;700px   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+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 &lt;900px    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+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  &lt;1400px</a:t>
            </a:r>
          </a:p>
          <a:p>
            <a:pPr>
              <a:lnSpc>
                <a:spcPct val="150000"/>
              </a:lnSpc>
            </a:pP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CSS : 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Définition des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classes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et des différentes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feuilles de style</a:t>
            </a:r>
          </a:p>
          <a:p>
            <a:pPr>
              <a:lnSpc>
                <a:spcPct val="150000"/>
              </a:lnSpc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              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Media </a:t>
            </a:r>
            <a:r>
              <a:rPr lang="fr-FR" sz="17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queries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pour affiner détails (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&lt;500px 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)</a:t>
            </a:r>
          </a:p>
          <a:p>
            <a:pPr>
              <a:lnSpc>
                <a:spcPct val="150000"/>
              </a:lnSpc>
            </a:pP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JavaScript : 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Pour réduire la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taille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des noms avec </a:t>
            </a:r>
            <a:r>
              <a:rPr lang="fr-FR" sz="17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substring</a:t>
            </a:r>
            <a:endParaRPr lang="fr-FR" sz="1750" b="1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  <a:p>
            <a:pPr>
              <a:lnSpc>
                <a:spcPct val="150000"/>
              </a:lnSpc>
            </a:pP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Appliqué sur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toutes les pages</a:t>
            </a: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ACB4FF7A-CC91-C687-0B79-FB602E0B44AD}"/>
              </a:ext>
            </a:extLst>
          </p:cNvPr>
          <p:cNvSpPr/>
          <p:nvPr/>
        </p:nvSpPr>
        <p:spPr>
          <a:xfrm>
            <a:off x="793790" y="538222"/>
            <a:ext cx="669036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5550"/>
              </a:lnSpc>
            </a:pPr>
            <a:r>
              <a:rPr lang="en-US" sz="445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RESPONSIVE DESIGN</a:t>
            </a: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9B505625-02D9-B405-1456-5A1B6457F12C}"/>
              </a:ext>
            </a:extLst>
          </p:cNvPr>
          <p:cNvSpPr/>
          <p:nvPr/>
        </p:nvSpPr>
        <p:spPr>
          <a:xfrm>
            <a:off x="1074475" y="1666756"/>
            <a:ext cx="756999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HTML – CSS - JavaScript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366DF56D-5E3E-9EED-C436-AF9389C0C54D}"/>
              </a:ext>
            </a:extLst>
          </p:cNvPr>
          <p:cNvSpPr txBox="1"/>
          <p:nvPr/>
        </p:nvSpPr>
        <p:spPr>
          <a:xfrm>
            <a:off x="12201956" y="609708"/>
            <a:ext cx="2327242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800" b="1" dirty="0">
                <a:solidFill>
                  <a:srgbClr val="E10600"/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(voir annexe p.43)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AC99EC0E-6D59-796F-7800-01AAACEB5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5104" y="1617504"/>
            <a:ext cx="5465660" cy="2630779"/>
          </a:xfrm>
          <a:prstGeom prst="rect">
            <a:avLst/>
          </a:pr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D8B02366-1FE6-29FE-2EFD-3A5A3D9A2A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5104" y="4565243"/>
            <a:ext cx="3356658" cy="2886974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EA297FDE-DCEE-FF72-CCE8-504CC77865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87708" y="4563519"/>
            <a:ext cx="1704228" cy="2887200"/>
          </a:xfrm>
          <a:prstGeom prst="rect">
            <a:avLst/>
          </a:prstGeom>
        </p:spPr>
      </p:pic>
      <p:sp>
        <p:nvSpPr>
          <p:cNvPr id="25" name="Text 1">
            <a:extLst>
              <a:ext uri="{FF2B5EF4-FFF2-40B4-BE49-F238E27FC236}">
                <a16:creationId xmlns:a16="http://schemas.microsoft.com/office/drawing/2014/main" id="{E5BD4320-8417-6F0A-AD9E-88EA16C82E41}"/>
              </a:ext>
            </a:extLst>
          </p:cNvPr>
          <p:cNvSpPr/>
          <p:nvPr/>
        </p:nvSpPr>
        <p:spPr>
          <a:xfrm>
            <a:off x="8834175" y="1315655"/>
            <a:ext cx="2392625" cy="311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DESKTOP</a:t>
            </a:r>
          </a:p>
        </p:txBody>
      </p:sp>
      <p:sp>
        <p:nvSpPr>
          <p:cNvPr id="26" name="Text 1">
            <a:extLst>
              <a:ext uri="{FF2B5EF4-FFF2-40B4-BE49-F238E27FC236}">
                <a16:creationId xmlns:a16="http://schemas.microsoft.com/office/drawing/2014/main" id="{AB9BD686-A303-A2B4-1272-F2C25D31C15B}"/>
              </a:ext>
            </a:extLst>
          </p:cNvPr>
          <p:cNvSpPr/>
          <p:nvPr/>
        </p:nvSpPr>
        <p:spPr>
          <a:xfrm>
            <a:off x="8834175" y="4275631"/>
            <a:ext cx="2392625" cy="3115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TABLETTE                                           MOBILE</a:t>
            </a:r>
          </a:p>
        </p:txBody>
      </p:sp>
    </p:spTree>
    <p:extLst>
      <p:ext uri="{BB962C8B-B14F-4D97-AF65-F5344CB8AC3E}">
        <p14:creationId xmlns:p14="http://schemas.microsoft.com/office/powerpoint/2010/main" val="106139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FDD2D-3D9C-B9D0-F975-2904A5133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>
            <a:extLst>
              <a:ext uri="{FF2B5EF4-FFF2-40B4-BE49-F238E27FC236}">
                <a16:creationId xmlns:a16="http://schemas.microsoft.com/office/drawing/2014/main" id="{271468BF-7904-F325-50F7-E5E552A9A41B}"/>
              </a:ext>
            </a:extLst>
          </p:cNvPr>
          <p:cNvSpPr/>
          <p:nvPr/>
        </p:nvSpPr>
        <p:spPr>
          <a:xfrm>
            <a:off x="793790" y="1551007"/>
            <a:ext cx="7726262" cy="2855894"/>
          </a:xfrm>
          <a:prstGeom prst="roundRect">
            <a:avLst>
              <a:gd name="adj" fmla="val 1033"/>
            </a:avLst>
          </a:prstGeom>
          <a:solidFill>
            <a:srgbClr val="D8D9D2"/>
          </a:solidFill>
          <a:ln/>
        </p:spPr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5D3BFC43-3140-7EBF-7389-5362057EA767}"/>
              </a:ext>
            </a:extLst>
          </p:cNvPr>
          <p:cNvSpPr/>
          <p:nvPr/>
        </p:nvSpPr>
        <p:spPr>
          <a:xfrm>
            <a:off x="1290578" y="2008976"/>
            <a:ext cx="7218423" cy="2397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HTML commun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 : doctype, balises sémantiques, métadonnées, favicon, feuilles de styles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Balises structurantes : 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accessibilité et référencement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Contenu de la balise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&lt;main&gt; 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s’adapte via la variable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$content</a:t>
            </a: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2FBBAB1E-1A8F-26CA-4B9E-ACDBFA09968F}"/>
              </a:ext>
            </a:extLst>
          </p:cNvPr>
          <p:cNvSpPr/>
          <p:nvPr/>
        </p:nvSpPr>
        <p:spPr>
          <a:xfrm>
            <a:off x="793790" y="538222"/>
            <a:ext cx="669036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5550"/>
              </a:lnSpc>
            </a:pPr>
            <a:r>
              <a:rPr lang="en-US" sz="445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INTERFACES STATIQUES</a:t>
            </a: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A64FD61E-2259-0A1C-872F-8156757ABCB9}"/>
              </a:ext>
            </a:extLst>
          </p:cNvPr>
          <p:cNvSpPr/>
          <p:nvPr/>
        </p:nvSpPr>
        <p:spPr>
          <a:xfrm>
            <a:off x="1074475" y="1666756"/>
            <a:ext cx="7569994" cy="176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Views/</a:t>
            </a:r>
            <a:r>
              <a:rPr lang="en-US" sz="2000" b="1" i="1" dirty="0" err="1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base.php</a:t>
            </a:r>
            <a:endParaRPr lang="en-US" sz="2000" b="1" i="1" dirty="0">
              <a:solidFill>
                <a:srgbClr val="0C0D0F"/>
              </a:solidFill>
              <a:latin typeface="Poppins" panose="00000500000000000000" pitchFamily="2" charset="0"/>
              <a:ea typeface="Hubot Sans Bold" pitchFamily="34" charset="-122"/>
              <a:cs typeface="Poppins" panose="00000500000000000000" pitchFamily="2" charset="0"/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C7C86E0C-4469-A75B-24B4-BA3896DF6BD1}"/>
              </a:ext>
            </a:extLst>
          </p:cNvPr>
          <p:cNvSpPr txBox="1"/>
          <p:nvPr/>
        </p:nvSpPr>
        <p:spPr>
          <a:xfrm>
            <a:off x="12037486" y="609708"/>
            <a:ext cx="2062703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800" b="1" dirty="0">
                <a:solidFill>
                  <a:srgbClr val="E10600"/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(voir annexe p.</a:t>
            </a:r>
            <a:r>
              <a:rPr lang="fr-FR" b="1" dirty="0">
                <a:solidFill>
                  <a:srgbClr val="E10600"/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39</a:t>
            </a:r>
            <a:r>
              <a:rPr lang="fr-FR" sz="1800" b="1" dirty="0">
                <a:solidFill>
                  <a:srgbClr val="E10600"/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)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6FD1519-5921-90BE-A2DA-77808D81DCE0}"/>
              </a:ext>
            </a:extLst>
          </p:cNvPr>
          <p:cNvSpPr/>
          <p:nvPr/>
        </p:nvSpPr>
        <p:spPr>
          <a:xfrm>
            <a:off x="793790" y="4795035"/>
            <a:ext cx="7726262" cy="2855894"/>
          </a:xfrm>
          <a:prstGeom prst="roundRect">
            <a:avLst>
              <a:gd name="adj" fmla="val 1033"/>
            </a:avLst>
          </a:prstGeom>
          <a:solidFill>
            <a:srgbClr val="D8D9D2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40EC48C-52EE-4E14-1FB0-B8A3AB717B3E}"/>
              </a:ext>
            </a:extLst>
          </p:cNvPr>
          <p:cNvSpPr/>
          <p:nvPr/>
        </p:nvSpPr>
        <p:spPr>
          <a:xfrm>
            <a:off x="1290578" y="5253004"/>
            <a:ext cx="7218423" cy="2397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Balises sémantiques</a:t>
            </a: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SEO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avec les mots clés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Bandeau animé en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CSS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3FD11AB6-2CE4-DEF9-AEE8-D1C8B25CA9F3}"/>
              </a:ext>
            </a:extLst>
          </p:cNvPr>
          <p:cNvSpPr/>
          <p:nvPr/>
        </p:nvSpPr>
        <p:spPr>
          <a:xfrm>
            <a:off x="1074475" y="4910784"/>
            <a:ext cx="7569994" cy="176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Views/home/</a:t>
            </a:r>
            <a:r>
              <a:rPr lang="en-US" sz="2000" b="1" i="1" dirty="0" err="1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index.php</a:t>
            </a:r>
            <a:endParaRPr lang="en-US" sz="2000" b="1" i="1" dirty="0">
              <a:solidFill>
                <a:srgbClr val="0C0D0F"/>
              </a:solidFill>
              <a:latin typeface="Poppins" panose="00000500000000000000" pitchFamily="2" charset="0"/>
              <a:ea typeface="Hubot Sans Bold" pitchFamily="34" charset="-122"/>
              <a:cs typeface="Poppins" panose="00000500000000000000" pitchFamily="2" charset="0"/>
            </a:endParaRPr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5B2F4B4D-1257-E0B0-74C8-B0E36E6FA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8082" y="1436707"/>
            <a:ext cx="5263200" cy="1326765"/>
          </a:xfrm>
          <a:prstGeom prst="rect">
            <a:avLst/>
          </a:prstGeom>
        </p:spPr>
      </p:pic>
      <p:pic>
        <p:nvPicPr>
          <p:cNvPr id="30" name="Image 29">
            <a:extLst>
              <a:ext uri="{FF2B5EF4-FFF2-40B4-BE49-F238E27FC236}">
                <a16:creationId xmlns:a16="http://schemas.microsoft.com/office/drawing/2014/main" id="{4C0D89D7-48B7-97CF-1615-71C102E904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8082" y="2891349"/>
            <a:ext cx="5261793" cy="1645296"/>
          </a:xfrm>
          <a:prstGeom prst="rect">
            <a:avLst/>
          </a:prstGeom>
        </p:spPr>
      </p:pic>
      <p:pic>
        <p:nvPicPr>
          <p:cNvPr id="32" name="Image 31">
            <a:extLst>
              <a:ext uri="{FF2B5EF4-FFF2-40B4-BE49-F238E27FC236}">
                <a16:creationId xmlns:a16="http://schemas.microsoft.com/office/drawing/2014/main" id="{17CF2751-3FC1-1B51-13C6-56AC3943C6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8082" y="4664522"/>
            <a:ext cx="5261793" cy="1141756"/>
          </a:xfrm>
          <a:prstGeom prst="rect">
            <a:avLst/>
          </a:prstGeom>
        </p:spPr>
      </p:pic>
      <p:pic>
        <p:nvPicPr>
          <p:cNvPr id="36" name="Image 35">
            <a:extLst>
              <a:ext uri="{FF2B5EF4-FFF2-40B4-BE49-F238E27FC236}">
                <a16:creationId xmlns:a16="http://schemas.microsoft.com/office/drawing/2014/main" id="{9A2251BD-41FC-2D4E-503D-2E1C17CAF1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8082" y="5934155"/>
            <a:ext cx="5261793" cy="1851951"/>
          </a:xfrm>
          <a:prstGeom prst="rect">
            <a:avLst/>
          </a:prstGeom>
        </p:spPr>
      </p:pic>
      <p:sp>
        <p:nvSpPr>
          <p:cNvPr id="37" name="Rectangle : coins arrondis 36">
            <a:extLst>
              <a:ext uri="{FF2B5EF4-FFF2-40B4-BE49-F238E27FC236}">
                <a16:creationId xmlns:a16="http://schemas.microsoft.com/office/drawing/2014/main" id="{72E6B8CF-FAFA-B027-FD39-9D3F3661A7EF}"/>
              </a:ext>
            </a:extLst>
          </p:cNvPr>
          <p:cNvSpPr/>
          <p:nvPr/>
        </p:nvSpPr>
        <p:spPr>
          <a:xfrm>
            <a:off x="8749133" y="3095625"/>
            <a:ext cx="3404767" cy="523875"/>
          </a:xfrm>
          <a:prstGeom prst="roundRect">
            <a:avLst/>
          </a:prstGeom>
          <a:noFill/>
          <a:ln w="25400">
            <a:solidFill>
              <a:srgbClr val="E10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38" name="Rectangle : coins arrondis 37">
            <a:extLst>
              <a:ext uri="{FF2B5EF4-FFF2-40B4-BE49-F238E27FC236}">
                <a16:creationId xmlns:a16="http://schemas.microsoft.com/office/drawing/2014/main" id="{6B6112AB-DB77-0D90-D3E1-5C33857CBDF0}"/>
              </a:ext>
            </a:extLst>
          </p:cNvPr>
          <p:cNvSpPr/>
          <p:nvPr/>
        </p:nvSpPr>
        <p:spPr>
          <a:xfrm>
            <a:off x="9383549" y="5223455"/>
            <a:ext cx="1716251" cy="165899"/>
          </a:xfrm>
          <a:prstGeom prst="roundRect">
            <a:avLst/>
          </a:prstGeom>
          <a:noFill/>
          <a:ln w="25400">
            <a:solidFill>
              <a:srgbClr val="E10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39" name="Rectangle : coins arrondis 38">
            <a:extLst>
              <a:ext uri="{FF2B5EF4-FFF2-40B4-BE49-F238E27FC236}">
                <a16:creationId xmlns:a16="http://schemas.microsoft.com/office/drawing/2014/main" id="{D315B62C-7F4E-5C9E-6620-4D0320C8DB7B}"/>
              </a:ext>
            </a:extLst>
          </p:cNvPr>
          <p:cNvSpPr/>
          <p:nvPr/>
        </p:nvSpPr>
        <p:spPr>
          <a:xfrm>
            <a:off x="9199398" y="4938460"/>
            <a:ext cx="2736000" cy="165899"/>
          </a:xfrm>
          <a:prstGeom prst="roundRect">
            <a:avLst/>
          </a:prstGeom>
          <a:noFill/>
          <a:ln w="25400">
            <a:solidFill>
              <a:srgbClr val="E10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3332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E4FB5-FA9F-326A-6501-92B0CA1D3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>
            <a:extLst>
              <a:ext uri="{FF2B5EF4-FFF2-40B4-BE49-F238E27FC236}">
                <a16:creationId xmlns:a16="http://schemas.microsoft.com/office/drawing/2014/main" id="{5D88E4D2-7EFD-63A4-E334-D6ABE9D542C9}"/>
              </a:ext>
            </a:extLst>
          </p:cNvPr>
          <p:cNvSpPr/>
          <p:nvPr/>
        </p:nvSpPr>
        <p:spPr>
          <a:xfrm>
            <a:off x="793790" y="1436707"/>
            <a:ext cx="7726262" cy="2855894"/>
          </a:xfrm>
          <a:prstGeom prst="roundRect">
            <a:avLst>
              <a:gd name="adj" fmla="val 1033"/>
            </a:avLst>
          </a:prstGeom>
          <a:solidFill>
            <a:srgbClr val="D8D9D2"/>
          </a:solidFill>
          <a:ln/>
        </p:spPr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F18F4634-8788-F833-0DAB-67F0AF6CC3FA}"/>
              </a:ext>
            </a:extLst>
          </p:cNvPr>
          <p:cNvSpPr/>
          <p:nvPr/>
        </p:nvSpPr>
        <p:spPr>
          <a:xfrm>
            <a:off x="1290578" y="1894676"/>
            <a:ext cx="7218423" cy="2397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Interface administrateur :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gestions des circuits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Boucle </a:t>
            </a:r>
            <a:r>
              <a:rPr lang="fr-FR" sz="17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foreach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: Afficher dynamiquement chaque circuit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htmlspecialchars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() 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: Protection faille XSS </a:t>
            </a: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23F912A0-10D0-F650-CFFD-6AB9E1032E89}"/>
              </a:ext>
            </a:extLst>
          </p:cNvPr>
          <p:cNvSpPr/>
          <p:nvPr/>
        </p:nvSpPr>
        <p:spPr>
          <a:xfrm>
            <a:off x="793790" y="538222"/>
            <a:ext cx="669036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5550"/>
              </a:lnSpc>
            </a:pPr>
            <a:r>
              <a:rPr lang="en-US" sz="445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INTERFACES DYNAMIQUES</a:t>
            </a: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36A62857-4D3F-DAD9-E242-D7FE55AEB49C}"/>
              </a:ext>
            </a:extLst>
          </p:cNvPr>
          <p:cNvSpPr/>
          <p:nvPr/>
        </p:nvSpPr>
        <p:spPr>
          <a:xfrm>
            <a:off x="1074475" y="1552456"/>
            <a:ext cx="7569994" cy="176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Views/dashboard/circuits/</a:t>
            </a:r>
            <a:r>
              <a:rPr lang="en-US" sz="2000" b="1" i="1" dirty="0" err="1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index.php</a:t>
            </a:r>
            <a:r>
              <a:rPr lang="en-US" sz="20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 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B23EB041-D234-E327-CF79-FF3727A40FB3}"/>
              </a:ext>
            </a:extLst>
          </p:cNvPr>
          <p:cNvSpPr txBox="1"/>
          <p:nvPr/>
        </p:nvSpPr>
        <p:spPr>
          <a:xfrm>
            <a:off x="8712643" y="609708"/>
            <a:ext cx="5575300" cy="47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fr-FR" sz="1800" b="1" dirty="0">
                <a:solidFill>
                  <a:srgbClr val="E10600"/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(voir </a:t>
            </a:r>
            <a:r>
              <a:rPr lang="fr-FR" b="1" dirty="0">
                <a:solidFill>
                  <a:srgbClr val="E10600"/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dossier</a:t>
            </a:r>
            <a:r>
              <a:rPr lang="fr-FR" sz="1800" b="1" dirty="0">
                <a:solidFill>
                  <a:srgbClr val="E10600"/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p.1</a:t>
            </a:r>
            <a:r>
              <a:rPr lang="fr-FR" b="1" dirty="0">
                <a:solidFill>
                  <a:srgbClr val="E10600"/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3</a:t>
            </a:r>
            <a:r>
              <a:rPr lang="fr-FR" sz="1800" b="1" dirty="0">
                <a:solidFill>
                  <a:srgbClr val="E10600"/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)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20D9594-B9FB-20C7-526C-DEC064F0814E}"/>
              </a:ext>
            </a:extLst>
          </p:cNvPr>
          <p:cNvSpPr/>
          <p:nvPr/>
        </p:nvSpPr>
        <p:spPr>
          <a:xfrm>
            <a:off x="793790" y="4541034"/>
            <a:ext cx="7726262" cy="3332965"/>
          </a:xfrm>
          <a:prstGeom prst="roundRect">
            <a:avLst>
              <a:gd name="adj" fmla="val 1033"/>
            </a:avLst>
          </a:prstGeom>
          <a:solidFill>
            <a:srgbClr val="D8D9D2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C9DDC98-7BCC-15AA-A585-1751E6FD8FCF}"/>
              </a:ext>
            </a:extLst>
          </p:cNvPr>
          <p:cNvSpPr/>
          <p:nvPr/>
        </p:nvSpPr>
        <p:spPr>
          <a:xfrm>
            <a:off x="1290578" y="4999004"/>
            <a:ext cx="7218423" cy="2874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Visible par tous les visiteurs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Risque rencontré 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: Page trop longue à parcourir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Solution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dynamique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pour éviter cela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Utilisation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d’AJAX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avec </a:t>
            </a:r>
            <a:r>
              <a:rPr lang="fr-FR" sz="17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fetch</a:t>
            </a: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Modal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affiche les résultats détaillés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(</a:t>
            </a:r>
            <a:r>
              <a:rPr lang="fr-FR" sz="17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int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) 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protège des injections SQL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550052D4-9706-96B3-9D7A-03B4C74EAD53}"/>
              </a:ext>
            </a:extLst>
          </p:cNvPr>
          <p:cNvSpPr/>
          <p:nvPr/>
        </p:nvSpPr>
        <p:spPr>
          <a:xfrm>
            <a:off x="1074475" y="4656784"/>
            <a:ext cx="7569994" cy="176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Views/</a:t>
            </a:r>
            <a:r>
              <a:rPr lang="en-US" sz="2000" b="1" i="1" dirty="0" err="1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classements</a:t>
            </a:r>
            <a:r>
              <a:rPr lang="en-US" sz="20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/</a:t>
            </a:r>
            <a:r>
              <a:rPr lang="en-US" sz="2000" b="1" i="1" dirty="0" err="1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standings.php</a:t>
            </a:r>
            <a:endParaRPr lang="en-US" sz="2000" b="1" i="1" dirty="0">
              <a:solidFill>
                <a:srgbClr val="0C0D0F"/>
              </a:solidFill>
              <a:latin typeface="Poppins" panose="00000500000000000000" pitchFamily="2" charset="0"/>
              <a:ea typeface="Hubot Sans Bold" pitchFamily="34" charset="-122"/>
              <a:cs typeface="Poppins" panose="00000500000000000000" pitchFamily="2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470EEDA0-C8A2-BFA2-3CA1-6B472F98F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0737" y="1565156"/>
            <a:ext cx="5475102" cy="2634247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E9F3A2B1-CE23-FF8E-213D-7953FA0713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0239" y="4575175"/>
            <a:ext cx="5475600" cy="3279848"/>
          </a:xfrm>
          <a:prstGeom prst="rect">
            <a:avLst/>
          </a:prstGeom>
        </p:spPr>
      </p:pic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8F1A39FD-56F8-D41C-DCBE-73FAB14FA6C5}"/>
              </a:ext>
            </a:extLst>
          </p:cNvPr>
          <p:cNvSpPr/>
          <p:nvPr/>
        </p:nvSpPr>
        <p:spPr>
          <a:xfrm>
            <a:off x="9005789" y="1712607"/>
            <a:ext cx="2520000" cy="182069"/>
          </a:xfrm>
          <a:prstGeom prst="roundRect">
            <a:avLst/>
          </a:prstGeom>
          <a:noFill/>
          <a:ln w="25400">
            <a:solidFill>
              <a:srgbClr val="E10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1AD300C7-DEF6-4B52-CEE6-38F3D8DCC56F}"/>
              </a:ext>
            </a:extLst>
          </p:cNvPr>
          <p:cNvSpPr/>
          <p:nvPr/>
        </p:nvSpPr>
        <p:spPr>
          <a:xfrm>
            <a:off x="10431843" y="2033575"/>
            <a:ext cx="2592000" cy="182069"/>
          </a:xfrm>
          <a:prstGeom prst="roundRect">
            <a:avLst/>
          </a:prstGeom>
          <a:noFill/>
          <a:ln w="25400">
            <a:solidFill>
              <a:srgbClr val="E10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22D01F6A-79FC-677F-7CF9-A7AB7818BCDB}"/>
              </a:ext>
            </a:extLst>
          </p:cNvPr>
          <p:cNvSpPr/>
          <p:nvPr/>
        </p:nvSpPr>
        <p:spPr>
          <a:xfrm>
            <a:off x="10431843" y="2215002"/>
            <a:ext cx="2772000" cy="182069"/>
          </a:xfrm>
          <a:prstGeom prst="roundRect">
            <a:avLst/>
          </a:prstGeom>
          <a:noFill/>
          <a:ln w="25400">
            <a:solidFill>
              <a:srgbClr val="E10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1F83EC1E-6006-A206-AC8A-44B21A0F607D}"/>
              </a:ext>
            </a:extLst>
          </p:cNvPr>
          <p:cNvSpPr/>
          <p:nvPr/>
        </p:nvSpPr>
        <p:spPr>
          <a:xfrm>
            <a:off x="11681651" y="2393708"/>
            <a:ext cx="2556000" cy="182069"/>
          </a:xfrm>
          <a:prstGeom prst="roundRect">
            <a:avLst/>
          </a:prstGeom>
          <a:noFill/>
          <a:ln w="25400">
            <a:solidFill>
              <a:srgbClr val="E10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1BA3CF7A-539F-F7FE-49CB-3F4625653C92}"/>
              </a:ext>
            </a:extLst>
          </p:cNvPr>
          <p:cNvSpPr/>
          <p:nvPr/>
        </p:nvSpPr>
        <p:spPr>
          <a:xfrm>
            <a:off x="9005789" y="4001374"/>
            <a:ext cx="1404000" cy="182069"/>
          </a:xfrm>
          <a:prstGeom prst="roundRect">
            <a:avLst/>
          </a:prstGeom>
          <a:noFill/>
          <a:ln w="25400">
            <a:solidFill>
              <a:srgbClr val="E10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E410FADC-8739-BBEA-D2A7-C2C8EE3EF5F1}"/>
              </a:ext>
            </a:extLst>
          </p:cNvPr>
          <p:cNvSpPr/>
          <p:nvPr/>
        </p:nvSpPr>
        <p:spPr>
          <a:xfrm>
            <a:off x="12755651" y="4751500"/>
            <a:ext cx="1404000" cy="182069"/>
          </a:xfrm>
          <a:prstGeom prst="roundRect">
            <a:avLst/>
          </a:prstGeom>
          <a:noFill/>
          <a:ln w="25400">
            <a:solidFill>
              <a:srgbClr val="E10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40809A38-9B7F-4F16-0DC8-28939EEE2889}"/>
              </a:ext>
            </a:extLst>
          </p:cNvPr>
          <p:cNvSpPr/>
          <p:nvPr/>
        </p:nvSpPr>
        <p:spPr>
          <a:xfrm>
            <a:off x="9156397" y="6594673"/>
            <a:ext cx="5112000" cy="182069"/>
          </a:xfrm>
          <a:prstGeom prst="roundRect">
            <a:avLst/>
          </a:prstGeom>
          <a:noFill/>
          <a:ln w="25400">
            <a:solidFill>
              <a:srgbClr val="E10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1354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0E1D7-5157-D41C-09C3-1CF971E21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1">
            <a:extLst>
              <a:ext uri="{FF2B5EF4-FFF2-40B4-BE49-F238E27FC236}">
                <a16:creationId xmlns:a16="http://schemas.microsoft.com/office/drawing/2014/main" id="{ACC6FFDB-901F-99A6-4A57-C6EF4F16174E}"/>
              </a:ext>
            </a:extLst>
          </p:cNvPr>
          <p:cNvSpPr/>
          <p:nvPr/>
        </p:nvSpPr>
        <p:spPr>
          <a:xfrm>
            <a:off x="793907" y="3935388"/>
            <a:ext cx="13042586" cy="3472410"/>
          </a:xfrm>
          <a:prstGeom prst="roundRect">
            <a:avLst>
              <a:gd name="adj" fmla="val 1033"/>
            </a:avLst>
          </a:prstGeom>
          <a:solidFill>
            <a:srgbClr val="D8D9D2"/>
          </a:solidFill>
          <a:ln/>
        </p:spPr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4A8CDDEA-AC6C-9DAA-9E04-79F99D7BBE8A}"/>
              </a:ext>
            </a:extLst>
          </p:cNvPr>
          <p:cNvSpPr/>
          <p:nvPr/>
        </p:nvSpPr>
        <p:spPr>
          <a:xfrm>
            <a:off x="793908" y="3084644"/>
            <a:ext cx="128989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550"/>
              </a:lnSpc>
              <a:buNone/>
            </a:pPr>
            <a:endParaRPr lang="en-US" sz="4450" b="1" i="1" dirty="0">
              <a:solidFill>
                <a:srgbClr val="0C0D0F"/>
              </a:solidFill>
              <a:latin typeface="Poppins" panose="00000500000000000000" pitchFamily="2" charset="0"/>
              <a:ea typeface="Hubot Sans Bold" pitchFamily="34" charset="-122"/>
              <a:cs typeface="Poppins" panose="00000500000000000000" pitchFamily="2" charset="0"/>
            </a:endParaRPr>
          </a:p>
          <a:p>
            <a:pPr marL="0" indent="0" algn="l">
              <a:lnSpc>
                <a:spcPts val="5550"/>
              </a:lnSpc>
              <a:buNone/>
            </a:pPr>
            <a:r>
              <a:rPr lang="en-US" sz="445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ÉLÉMENTS CÔTÉ BACK-END</a:t>
            </a:r>
          </a:p>
          <a:p>
            <a:pPr marL="0" indent="0" algn="l">
              <a:lnSpc>
                <a:spcPts val="5550"/>
              </a:lnSpc>
              <a:buNone/>
            </a:pPr>
            <a:endParaRPr lang="en-US" sz="4450" b="1" i="1" dirty="0">
              <a:solidFill>
                <a:srgbClr val="0C0D0F"/>
              </a:solidFill>
              <a:latin typeface="Poppins" panose="00000500000000000000" pitchFamily="2" charset="0"/>
              <a:ea typeface="Hubot Sans Bold" pitchFamily="34" charset="-122"/>
              <a:cs typeface="Poppins" panose="00000500000000000000" pitchFamily="2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1395FF8-C718-400C-143E-7BF6C91FC722}"/>
              </a:ext>
            </a:extLst>
          </p:cNvPr>
          <p:cNvSpPr/>
          <p:nvPr/>
        </p:nvSpPr>
        <p:spPr>
          <a:xfrm>
            <a:off x="793908" y="2593530"/>
            <a:ext cx="753656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5000" b="1" i="1" dirty="0">
                <a:solidFill>
                  <a:srgbClr val="E10600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03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B72095E-71BB-3A71-0E8E-1A8781736BF2}"/>
              </a:ext>
            </a:extLst>
          </p:cNvPr>
          <p:cNvSpPr/>
          <p:nvPr/>
        </p:nvSpPr>
        <p:spPr>
          <a:xfrm>
            <a:off x="793908" y="2948574"/>
            <a:ext cx="4196358" cy="72000"/>
          </a:xfrm>
          <a:prstGeom prst="rect">
            <a:avLst/>
          </a:prstGeom>
          <a:solidFill>
            <a:srgbClr val="C8CAC1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0FDC567-E840-0FAE-67FE-CC91D4E94312}"/>
              </a:ext>
            </a:extLst>
          </p:cNvPr>
          <p:cNvSpPr/>
          <p:nvPr/>
        </p:nvSpPr>
        <p:spPr>
          <a:xfrm>
            <a:off x="1170736" y="4568621"/>
            <a:ext cx="12221173" cy="2376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Roboto Condensed" pitchFamily="34" charset="-122"/>
                <a:cs typeface="Poppins" panose="00000500000000000000" pitchFamily="2" charset="0"/>
              </a:rPr>
              <a:t>PRÉSENTATION DE LA BASE DE DONNÉES</a:t>
            </a:r>
          </a:p>
          <a:p>
            <a:pPr marL="0" indent="0" algn="l">
              <a:buNone/>
            </a:pPr>
            <a:r>
              <a:rPr lang="en-US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Roboto Condensed" pitchFamily="34" charset="-122"/>
                <a:cs typeface="Poppins" panose="00000500000000000000" pitchFamily="2" charset="0"/>
              </a:rPr>
              <a:t>ARCHITECTURE MVC</a:t>
            </a:r>
          </a:p>
          <a:p>
            <a:pPr marL="0" indent="0" algn="l">
              <a:buNone/>
            </a:pPr>
            <a:r>
              <a:rPr lang="en-US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Roboto Condensed" pitchFamily="34" charset="-122"/>
                <a:cs typeface="Poppins" panose="00000500000000000000" pitchFamily="2" charset="0"/>
              </a:rPr>
              <a:t>COMPOSANTS MÉTIERS</a:t>
            </a:r>
          </a:p>
          <a:p>
            <a:pPr marL="0" indent="0" algn="l">
              <a:buNone/>
            </a:pPr>
            <a:r>
              <a:rPr lang="en-US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Roboto Condensed" pitchFamily="34" charset="-122"/>
                <a:cs typeface="Poppins" panose="00000500000000000000" pitchFamily="2" charset="0"/>
              </a:rPr>
              <a:t>COMPOSANTS D’ACCÈS AUX DONNÉES</a:t>
            </a:r>
          </a:p>
        </p:txBody>
      </p:sp>
    </p:spTree>
    <p:extLst>
      <p:ext uri="{BB962C8B-B14F-4D97-AF65-F5344CB8AC3E}">
        <p14:creationId xmlns:p14="http://schemas.microsoft.com/office/powerpoint/2010/main" val="1074225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ferris dir="r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593E4-A792-3F02-420F-C92D5AD66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>
            <a:extLst>
              <a:ext uri="{FF2B5EF4-FFF2-40B4-BE49-F238E27FC236}">
                <a16:creationId xmlns:a16="http://schemas.microsoft.com/office/drawing/2014/main" id="{1225ACE8-646E-4765-AAC1-A39E28A269F5}"/>
              </a:ext>
            </a:extLst>
          </p:cNvPr>
          <p:cNvSpPr/>
          <p:nvPr/>
        </p:nvSpPr>
        <p:spPr>
          <a:xfrm>
            <a:off x="793790" y="1436707"/>
            <a:ext cx="7726262" cy="3135294"/>
          </a:xfrm>
          <a:prstGeom prst="roundRect">
            <a:avLst>
              <a:gd name="adj" fmla="val 1033"/>
            </a:avLst>
          </a:prstGeom>
          <a:solidFill>
            <a:srgbClr val="D8D9D2"/>
          </a:solidFill>
          <a:ln/>
        </p:spPr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3A7A236B-04FD-3C16-5DA7-EE192BACEB2C}"/>
              </a:ext>
            </a:extLst>
          </p:cNvPr>
          <p:cNvSpPr/>
          <p:nvPr/>
        </p:nvSpPr>
        <p:spPr>
          <a:xfrm>
            <a:off x="1290578" y="1894676"/>
            <a:ext cx="7218423" cy="2397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Méthode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MERISE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avec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Looping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Structure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globale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Relations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entre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entités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Vue d’ensemble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Cardinalités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définies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MLD crée les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clés primaires 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et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clés étrangères</a:t>
            </a: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F04AA38C-5D66-0283-2772-2EC296C39C2F}"/>
              </a:ext>
            </a:extLst>
          </p:cNvPr>
          <p:cNvSpPr/>
          <p:nvPr/>
        </p:nvSpPr>
        <p:spPr>
          <a:xfrm>
            <a:off x="793790" y="538222"/>
            <a:ext cx="669036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5550"/>
              </a:lnSpc>
            </a:pPr>
            <a:r>
              <a:rPr lang="en-US" sz="445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PRÉSENTATION DE LA BASE DE DONNÉES</a:t>
            </a: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6FB59BC4-4AAB-EFCE-B257-B52FC12737D6}"/>
              </a:ext>
            </a:extLst>
          </p:cNvPr>
          <p:cNvSpPr/>
          <p:nvPr/>
        </p:nvSpPr>
        <p:spPr>
          <a:xfrm>
            <a:off x="1074475" y="1552456"/>
            <a:ext cx="7569994" cy="176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MCD &amp; MLD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4EB52503-AD25-9BF1-6B6F-56E196EBF582}"/>
              </a:ext>
            </a:extLst>
          </p:cNvPr>
          <p:cNvSpPr txBox="1"/>
          <p:nvPr/>
        </p:nvSpPr>
        <p:spPr>
          <a:xfrm>
            <a:off x="10148704" y="720501"/>
            <a:ext cx="39930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1800" b="1" dirty="0">
                <a:solidFill>
                  <a:srgbClr val="E10600"/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(voir </a:t>
            </a:r>
            <a:r>
              <a:rPr lang="fr-FR" b="1" dirty="0">
                <a:solidFill>
                  <a:srgbClr val="E10600"/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dossier</a:t>
            </a:r>
            <a:r>
              <a:rPr lang="fr-FR" sz="1800" b="1" dirty="0">
                <a:solidFill>
                  <a:srgbClr val="E10600"/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p.15)</a:t>
            </a:r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F0827CAB-D0EB-E059-F4FA-089C6475B32F}"/>
              </a:ext>
            </a:extLst>
          </p:cNvPr>
          <p:cNvSpPr/>
          <p:nvPr/>
        </p:nvSpPr>
        <p:spPr>
          <a:xfrm>
            <a:off x="782739" y="4776780"/>
            <a:ext cx="7726262" cy="3135294"/>
          </a:xfrm>
          <a:prstGeom prst="roundRect">
            <a:avLst>
              <a:gd name="adj" fmla="val 1033"/>
            </a:avLst>
          </a:prstGeom>
          <a:solidFill>
            <a:srgbClr val="D8D9D2"/>
          </a:solidFill>
          <a:ln/>
        </p:spPr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47DB48BF-6CBB-9830-8E2D-3BF0A91157FE}"/>
              </a:ext>
            </a:extLst>
          </p:cNvPr>
          <p:cNvSpPr/>
          <p:nvPr/>
        </p:nvSpPr>
        <p:spPr>
          <a:xfrm>
            <a:off x="1279527" y="5234749"/>
            <a:ext cx="7218423" cy="2397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Looping génère MLD et MPD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Script SQL 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crée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Instructions CREATE TABLE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Déploiement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d’une base structurée</a:t>
            </a:r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E81725C6-9E86-201B-E9E5-E78961D912C7}"/>
              </a:ext>
            </a:extLst>
          </p:cNvPr>
          <p:cNvSpPr/>
          <p:nvPr/>
        </p:nvSpPr>
        <p:spPr>
          <a:xfrm>
            <a:off x="1063424" y="4892529"/>
            <a:ext cx="7569994" cy="176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MPD</a:t>
            </a: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8A664232-6F61-2A80-FBB0-07A20C01987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0448" y="1764737"/>
            <a:ext cx="5631201" cy="2424228"/>
          </a:xfrm>
          <a:prstGeom prst="roundRect">
            <a:avLst>
              <a:gd name="adj" fmla="val 5536"/>
            </a:avLst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BD0E86E2-70B3-B5C5-417B-1C8D1A5CC5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9572" y="4776780"/>
            <a:ext cx="4524812" cy="313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609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43D66-3519-B888-E842-E24167280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98E45AC-68F4-1EE4-AD11-B3343B4E860D}"/>
              </a:ext>
            </a:extLst>
          </p:cNvPr>
          <p:cNvSpPr/>
          <p:nvPr/>
        </p:nvSpPr>
        <p:spPr>
          <a:xfrm>
            <a:off x="793790" y="538222"/>
            <a:ext cx="669036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5550"/>
              </a:lnSpc>
            </a:pPr>
            <a:r>
              <a:rPr lang="en-US" sz="445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ARCHITECTURE MVC</a:t>
            </a:r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327E27AE-42F7-D0F5-5D87-A6046107603C}"/>
              </a:ext>
            </a:extLst>
          </p:cNvPr>
          <p:cNvGrpSpPr/>
          <p:nvPr/>
        </p:nvGrpSpPr>
        <p:grpSpPr>
          <a:xfrm>
            <a:off x="793790" y="1487308"/>
            <a:ext cx="8295569" cy="6090223"/>
            <a:chOff x="6184106" y="790286"/>
            <a:chExt cx="8295569" cy="6090223"/>
          </a:xfrm>
        </p:grpSpPr>
        <p:pic>
          <p:nvPicPr>
            <p:cNvPr id="3" name="Image 1" descr="preencoded.png">
              <a:extLst>
                <a:ext uri="{FF2B5EF4-FFF2-40B4-BE49-F238E27FC236}">
                  <a16:creationId xmlns:a16="http://schemas.microsoft.com/office/drawing/2014/main" id="{F1198E94-28E6-B70B-58BD-EC00EAE0EA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84106" y="790286"/>
              <a:ext cx="996791" cy="1467803"/>
            </a:xfrm>
            <a:prstGeom prst="rect">
              <a:avLst/>
            </a:prstGeom>
          </p:spPr>
        </p:pic>
        <p:sp>
          <p:nvSpPr>
            <p:cNvPr id="4" name="Text 1">
              <a:extLst>
                <a:ext uri="{FF2B5EF4-FFF2-40B4-BE49-F238E27FC236}">
                  <a16:creationId xmlns:a16="http://schemas.microsoft.com/office/drawing/2014/main" id="{0600A801-DCA4-5204-4D19-2891E1881A05}"/>
                </a:ext>
              </a:extLst>
            </p:cNvPr>
            <p:cNvSpPr/>
            <p:nvPr/>
          </p:nvSpPr>
          <p:spPr>
            <a:xfrm>
              <a:off x="7380208" y="792825"/>
              <a:ext cx="2492097" cy="3114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450"/>
                </a:lnSpc>
                <a:buNone/>
              </a:pPr>
              <a:r>
                <a:rPr lang="en-US" sz="2000" b="1" i="1" dirty="0">
                  <a:solidFill>
                    <a:srgbClr val="0C0D0F"/>
                  </a:solidFill>
                  <a:latin typeface="Poppins" panose="00000500000000000000" pitchFamily="2" charset="0"/>
                  <a:ea typeface="Hubot Sans Bold" pitchFamily="34" charset="-122"/>
                  <a:cs typeface="Poppins" panose="00000500000000000000" pitchFamily="2" charset="0"/>
                </a:rPr>
                <a:t>MODELS</a:t>
              </a:r>
            </a:p>
          </p:txBody>
        </p:sp>
        <p:sp>
          <p:nvSpPr>
            <p:cNvPr id="5" name="Text 2">
              <a:extLst>
                <a:ext uri="{FF2B5EF4-FFF2-40B4-BE49-F238E27FC236}">
                  <a16:creationId xmlns:a16="http://schemas.microsoft.com/office/drawing/2014/main" id="{8F54854F-7652-1705-7E90-51D93BCF4282}"/>
                </a:ext>
              </a:extLst>
            </p:cNvPr>
            <p:cNvSpPr/>
            <p:nvPr/>
          </p:nvSpPr>
          <p:spPr>
            <a:xfrm>
              <a:off x="7380207" y="1113303"/>
              <a:ext cx="7099467" cy="10616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500"/>
                </a:lnSpc>
              </a:pPr>
              <a:r>
                <a:rPr lang="en-US" sz="1750" b="1" dirty="0" err="1">
                  <a:solidFill>
                    <a:srgbClr val="55575A"/>
                  </a:solidFill>
                  <a:latin typeface="Titillium Web" panose="00000500000000000000" pitchFamily="2" charset="0"/>
                  <a:ea typeface="Roboto Condensed" pitchFamily="34" charset="-122"/>
                  <a:cs typeface="Roboto Condensed" pitchFamily="34" charset="-120"/>
                </a:rPr>
                <a:t>Accès</a:t>
              </a:r>
              <a:r>
                <a:rPr lang="en-US" sz="1750" b="1" dirty="0">
                  <a:solidFill>
                    <a:srgbClr val="55575A"/>
                  </a:solidFill>
                  <a:latin typeface="Titillium Web" panose="00000500000000000000" pitchFamily="2" charset="0"/>
                  <a:ea typeface="Roboto Condensed" pitchFamily="34" charset="-122"/>
                  <a:cs typeface="Roboto Condensed" pitchFamily="34" charset="-120"/>
                </a:rPr>
                <a:t> aux données</a:t>
              </a:r>
            </a:p>
            <a:p>
              <a:pPr marL="285750" indent="-285750">
                <a:lnSpc>
                  <a:spcPts val="2500"/>
                </a:lnSpc>
                <a:buFont typeface="Wingdings" panose="05000000000000000000" pitchFamily="2" charset="2"/>
                <a:buChar char="§"/>
              </a:pPr>
              <a:r>
                <a:rPr lang="en-US" sz="1750" dirty="0" err="1">
                  <a:solidFill>
                    <a:srgbClr val="55575A"/>
                  </a:solidFill>
                  <a:latin typeface="Titillium Web" panose="00000500000000000000" pitchFamily="2" charset="0"/>
                  <a:ea typeface="Roboto Condensed" pitchFamily="34" charset="-122"/>
                  <a:cs typeface="Roboto Condensed" pitchFamily="34" charset="-120"/>
                </a:rPr>
                <a:t>Connexion</a:t>
              </a:r>
              <a:endParaRPr lang="en-US" sz="1750" dirty="0">
                <a:solidFill>
                  <a:srgbClr val="55575A"/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endParaRPr>
            </a:p>
            <a:p>
              <a:pPr marL="285750" indent="-285750">
                <a:lnSpc>
                  <a:spcPts val="2500"/>
                </a:lnSpc>
                <a:buFont typeface="Wingdings" panose="05000000000000000000" pitchFamily="2" charset="2"/>
                <a:buChar char="§"/>
              </a:pPr>
              <a:r>
                <a:rPr lang="en-US" sz="1750" dirty="0">
                  <a:solidFill>
                    <a:srgbClr val="55575A"/>
                  </a:solidFill>
                  <a:latin typeface="Titillium Web" panose="00000500000000000000" pitchFamily="2" charset="0"/>
                  <a:ea typeface="Roboto Condensed" pitchFamily="34" charset="-122"/>
                  <a:cs typeface="Roboto Condensed" pitchFamily="34" charset="-120"/>
                </a:rPr>
                <a:t>C</a:t>
              </a:r>
              <a:r>
                <a:rPr lang="fr-FR" sz="1750" dirty="0" err="1">
                  <a:solidFill>
                    <a:srgbClr val="55575A"/>
                  </a:solidFill>
                  <a:latin typeface="Titillium Web" panose="00000500000000000000" pitchFamily="2" charset="0"/>
                  <a:ea typeface="Roboto Condensed" pitchFamily="34" charset="-122"/>
                  <a:cs typeface="Roboto Condensed" pitchFamily="34" charset="-120"/>
                </a:rPr>
                <a:t>alculs</a:t>
              </a:r>
              <a:r>
                <a:rPr lang="fr-FR" sz="1750" dirty="0">
                  <a:solidFill>
                    <a:srgbClr val="55575A"/>
                  </a:solidFill>
                  <a:latin typeface="Titillium Web" panose="00000500000000000000" pitchFamily="2" charset="0"/>
                  <a:ea typeface="Roboto Condensed" pitchFamily="34" charset="-122"/>
                  <a:cs typeface="Roboto Condensed" pitchFamily="34" charset="-120"/>
                </a:rPr>
                <a:t> et algorithmes</a:t>
              </a:r>
            </a:p>
            <a:p>
              <a:pPr>
                <a:lnSpc>
                  <a:spcPts val="2500"/>
                </a:lnSpc>
              </a:pPr>
              <a:endParaRPr lang="en-US" sz="1750" dirty="0">
                <a:solidFill>
                  <a:srgbClr val="55575A"/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endParaRPr>
            </a:p>
          </p:txBody>
        </p:sp>
        <p:pic>
          <p:nvPicPr>
            <p:cNvPr id="7" name="Image 2" descr="preencoded.png">
              <a:extLst>
                <a:ext uri="{FF2B5EF4-FFF2-40B4-BE49-F238E27FC236}">
                  <a16:creationId xmlns:a16="http://schemas.microsoft.com/office/drawing/2014/main" id="{56E1858A-E5F8-E07C-870D-F352533AA7B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84106" y="2478004"/>
              <a:ext cx="996791" cy="1467803"/>
            </a:xfrm>
            <a:prstGeom prst="rect">
              <a:avLst/>
            </a:prstGeom>
          </p:spPr>
        </p:pic>
        <p:sp>
          <p:nvSpPr>
            <p:cNvPr id="8" name="Text 3">
              <a:extLst>
                <a:ext uri="{FF2B5EF4-FFF2-40B4-BE49-F238E27FC236}">
                  <a16:creationId xmlns:a16="http://schemas.microsoft.com/office/drawing/2014/main" id="{5D3E1A7E-D768-F40D-C279-9676CC474C4E}"/>
                </a:ext>
              </a:extLst>
            </p:cNvPr>
            <p:cNvSpPr/>
            <p:nvPr/>
          </p:nvSpPr>
          <p:spPr>
            <a:xfrm>
              <a:off x="7380208" y="2434245"/>
              <a:ext cx="2492097" cy="3114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450"/>
                </a:lnSpc>
                <a:buNone/>
              </a:pPr>
              <a:r>
                <a:rPr lang="en-US" sz="2000" b="1" i="1" dirty="0">
                  <a:solidFill>
                    <a:srgbClr val="0C0D0F"/>
                  </a:solidFill>
                  <a:latin typeface="Poppins" panose="00000500000000000000" pitchFamily="2" charset="0"/>
                  <a:ea typeface="Hubot Sans Bold" pitchFamily="34" charset="-122"/>
                  <a:cs typeface="Poppins" panose="00000500000000000000" pitchFamily="2" charset="0"/>
                </a:rPr>
                <a:t>VIEWS</a:t>
              </a:r>
            </a:p>
          </p:txBody>
        </p:sp>
        <p:pic>
          <p:nvPicPr>
            <p:cNvPr id="14" name="Image 3" descr="preencoded.png">
              <a:extLst>
                <a:ext uri="{FF2B5EF4-FFF2-40B4-BE49-F238E27FC236}">
                  <a16:creationId xmlns:a16="http://schemas.microsoft.com/office/drawing/2014/main" id="{17FEECF0-D415-C5AD-AFB4-0EBEAAB856D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84106" y="4165728"/>
              <a:ext cx="996791" cy="1467803"/>
            </a:xfrm>
            <a:prstGeom prst="rect">
              <a:avLst/>
            </a:prstGeom>
          </p:spPr>
        </p:pic>
        <p:sp>
          <p:nvSpPr>
            <p:cNvPr id="15" name="Text 5">
              <a:extLst>
                <a:ext uri="{FF2B5EF4-FFF2-40B4-BE49-F238E27FC236}">
                  <a16:creationId xmlns:a16="http://schemas.microsoft.com/office/drawing/2014/main" id="{48A7A314-ABD6-78BC-B024-BF544F516924}"/>
                </a:ext>
              </a:extLst>
            </p:cNvPr>
            <p:cNvSpPr/>
            <p:nvPr/>
          </p:nvSpPr>
          <p:spPr>
            <a:xfrm>
              <a:off x="7380208" y="4143976"/>
              <a:ext cx="2492097" cy="3114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450"/>
                </a:lnSpc>
                <a:buNone/>
              </a:pPr>
              <a:r>
                <a:rPr lang="en-US" sz="2000" b="1" i="1" dirty="0">
                  <a:solidFill>
                    <a:srgbClr val="0C0D0F"/>
                  </a:solidFill>
                  <a:latin typeface="Poppins" panose="00000500000000000000" pitchFamily="2" charset="0"/>
                  <a:ea typeface="Hubot Sans Bold" pitchFamily="34" charset="-122"/>
                  <a:cs typeface="Poppins" panose="00000500000000000000" pitchFamily="2" charset="0"/>
                </a:rPr>
                <a:t>CONTROLLERS</a:t>
              </a:r>
            </a:p>
          </p:txBody>
        </p:sp>
        <p:sp>
          <p:nvSpPr>
            <p:cNvPr id="17" name="Text 6">
              <a:extLst>
                <a:ext uri="{FF2B5EF4-FFF2-40B4-BE49-F238E27FC236}">
                  <a16:creationId xmlns:a16="http://schemas.microsoft.com/office/drawing/2014/main" id="{49923C9C-13E1-EFE3-92B4-36B244B5BA86}"/>
                </a:ext>
              </a:extLst>
            </p:cNvPr>
            <p:cNvSpPr/>
            <p:nvPr/>
          </p:nvSpPr>
          <p:spPr>
            <a:xfrm>
              <a:off x="7380208" y="4434309"/>
              <a:ext cx="6552486" cy="11992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1750" b="1" dirty="0" err="1">
                  <a:solidFill>
                    <a:srgbClr val="55575A"/>
                  </a:solidFill>
                  <a:latin typeface="Titillium Web" panose="00000500000000000000" pitchFamily="2" charset="0"/>
                  <a:ea typeface="Roboto Condensed" pitchFamily="34" charset="-122"/>
                  <a:cs typeface="Roboto Condensed" pitchFamily="34" charset="-120"/>
                </a:rPr>
                <a:t>Logique</a:t>
              </a:r>
              <a:r>
                <a:rPr lang="en-US" sz="1750" b="1" dirty="0">
                  <a:solidFill>
                    <a:srgbClr val="55575A"/>
                  </a:solidFill>
                  <a:latin typeface="Titillium Web" panose="00000500000000000000" pitchFamily="2" charset="0"/>
                  <a:ea typeface="Roboto Condensed" pitchFamily="34" charset="-122"/>
                  <a:cs typeface="Roboto Condensed" pitchFamily="34" charset="-120"/>
                </a:rPr>
                <a:t> métier</a:t>
              </a:r>
            </a:p>
            <a:p>
              <a:pPr marL="342900" indent="-342900">
                <a:lnSpc>
                  <a:spcPts val="2450"/>
                </a:lnSpc>
                <a:buSzPct val="100000"/>
                <a:buChar char="•"/>
              </a:pPr>
              <a:r>
                <a:rPr lang="en-US" sz="1750" dirty="0" err="1">
                  <a:solidFill>
                    <a:srgbClr val="55575A"/>
                  </a:solidFill>
                  <a:latin typeface="Titillium Web" panose="00000500000000000000" pitchFamily="2" charset="0"/>
                  <a:ea typeface="Roboto Condensed" pitchFamily="34" charset="-122"/>
                  <a:cs typeface="Roboto Condensed" pitchFamily="34" charset="-120"/>
                </a:rPr>
                <a:t>Controller.php</a:t>
              </a:r>
              <a:r>
                <a:rPr lang="en-US" sz="1750" dirty="0">
                  <a:solidFill>
                    <a:srgbClr val="55575A"/>
                  </a:solidFill>
                  <a:latin typeface="Titillium Web" panose="00000500000000000000" pitchFamily="2" charset="0"/>
                  <a:ea typeface="Roboto Condensed" pitchFamily="34" charset="-122"/>
                  <a:cs typeface="Roboto Condensed" pitchFamily="34" charset="-120"/>
                </a:rPr>
                <a:t> : </a:t>
              </a:r>
              <a:r>
                <a:rPr lang="en-US" sz="1750" dirty="0" err="1">
                  <a:solidFill>
                    <a:srgbClr val="55575A"/>
                  </a:solidFill>
                  <a:latin typeface="Titillium Web" panose="00000500000000000000" pitchFamily="2" charset="0"/>
                  <a:ea typeface="Roboto Condensed" pitchFamily="34" charset="-122"/>
                  <a:cs typeface="Roboto Condensed" pitchFamily="34" charset="-120"/>
                </a:rPr>
                <a:t>centralisation</a:t>
              </a:r>
              <a:r>
                <a:rPr lang="en-US" sz="1750" dirty="0">
                  <a:solidFill>
                    <a:srgbClr val="55575A"/>
                  </a:solidFill>
                  <a:latin typeface="Titillium Web" panose="00000500000000000000" pitchFamily="2" charset="0"/>
                  <a:ea typeface="Roboto Condensed" pitchFamily="34" charset="-122"/>
                  <a:cs typeface="Roboto Condensed" pitchFamily="34" charset="-120"/>
                </a:rPr>
                <a:t> de la </a:t>
              </a:r>
              <a:r>
                <a:rPr lang="en-US" sz="1750" dirty="0" err="1">
                  <a:solidFill>
                    <a:srgbClr val="55575A"/>
                  </a:solidFill>
                  <a:latin typeface="Titillium Web" panose="00000500000000000000" pitchFamily="2" charset="0"/>
                  <a:ea typeface="Roboto Condensed" pitchFamily="34" charset="-122"/>
                  <a:cs typeface="Roboto Condensed" pitchFamily="34" charset="-120"/>
                </a:rPr>
                <a:t>sécurisation</a:t>
              </a:r>
              <a:r>
                <a:rPr lang="en-US" sz="1750" dirty="0">
                  <a:solidFill>
                    <a:srgbClr val="55575A"/>
                  </a:solidFill>
                  <a:latin typeface="Titillium Web" panose="00000500000000000000" pitchFamily="2" charset="0"/>
                  <a:ea typeface="Roboto Condensed" pitchFamily="34" charset="-122"/>
                  <a:cs typeface="Roboto Condensed" pitchFamily="34" charset="-120"/>
                </a:rPr>
                <a:t> + </a:t>
              </a:r>
              <a:r>
                <a:rPr lang="en-US" sz="1750" dirty="0" err="1">
                  <a:solidFill>
                    <a:srgbClr val="55575A"/>
                  </a:solidFill>
                  <a:latin typeface="Titillium Web" panose="00000500000000000000" pitchFamily="2" charset="0"/>
                  <a:ea typeface="Roboto Condensed" pitchFamily="34" charset="-122"/>
                  <a:cs typeface="Roboto Condensed" pitchFamily="34" charset="-120"/>
                </a:rPr>
                <a:t>méthode</a:t>
              </a:r>
              <a:r>
                <a:rPr lang="en-US" sz="1750" dirty="0">
                  <a:solidFill>
                    <a:srgbClr val="55575A"/>
                  </a:solidFill>
                  <a:latin typeface="Titillium Web" panose="00000500000000000000" pitchFamily="2" charset="0"/>
                  <a:ea typeface="Roboto Condensed" pitchFamily="34" charset="-122"/>
                  <a:cs typeface="Roboto Condensed" pitchFamily="34" charset="-120"/>
                </a:rPr>
                <a:t> render</a:t>
              </a:r>
            </a:p>
            <a:p>
              <a:pPr marL="342900" indent="-342900">
                <a:lnSpc>
                  <a:spcPts val="2450"/>
                </a:lnSpc>
                <a:buSzPct val="100000"/>
                <a:buChar char="•"/>
              </a:pPr>
              <a:r>
                <a:rPr lang="en-US" sz="1750" dirty="0">
                  <a:solidFill>
                    <a:srgbClr val="55575A"/>
                  </a:solidFill>
                  <a:latin typeface="Titillium Web" panose="00000500000000000000" pitchFamily="2" charset="0"/>
                  <a:ea typeface="Roboto Condensed" pitchFamily="34" charset="-122"/>
                  <a:cs typeface="Roboto Condensed" pitchFamily="34" charset="-120"/>
                </a:rPr>
                <a:t>Controllers enfants : CRUD des tables de la BDD</a:t>
              </a:r>
            </a:p>
            <a:p>
              <a:pPr marL="0" indent="0" algn="l">
                <a:lnSpc>
                  <a:spcPts val="2500"/>
                </a:lnSpc>
                <a:buNone/>
              </a:pPr>
              <a:endParaRPr lang="en-US" sz="1750" dirty="0">
                <a:solidFill>
                  <a:srgbClr val="55575A"/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endParaRPr>
            </a:p>
          </p:txBody>
        </p:sp>
        <p:sp>
          <p:nvSpPr>
            <p:cNvPr id="18" name="Text 7">
              <a:extLst>
                <a:ext uri="{FF2B5EF4-FFF2-40B4-BE49-F238E27FC236}">
                  <a16:creationId xmlns:a16="http://schemas.microsoft.com/office/drawing/2014/main" id="{FC0C32E8-2ECA-A29D-1407-C5D040388DD9}"/>
                </a:ext>
              </a:extLst>
            </p:cNvPr>
            <p:cNvSpPr/>
            <p:nvPr/>
          </p:nvSpPr>
          <p:spPr>
            <a:xfrm>
              <a:off x="6184106" y="5923246"/>
              <a:ext cx="7748588" cy="95726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1750" b="1" dirty="0" err="1">
                  <a:solidFill>
                    <a:srgbClr val="55575A"/>
                  </a:solidFill>
                  <a:latin typeface="Titillium Web" panose="00000500000000000000" pitchFamily="2" charset="0"/>
                  <a:ea typeface="Roboto Condensed" pitchFamily="34" charset="-122"/>
                  <a:cs typeface="Roboto Condensed" pitchFamily="34" charset="-120"/>
                </a:rPr>
                <a:t>Séparation</a:t>
              </a:r>
              <a:r>
                <a:rPr lang="en-US" sz="1750" b="1" dirty="0">
                  <a:solidFill>
                    <a:srgbClr val="55575A"/>
                  </a:solidFill>
                  <a:latin typeface="Titillium Web" panose="00000500000000000000" pitchFamily="2" charset="0"/>
                  <a:ea typeface="Roboto Condensed" pitchFamily="34" charset="-122"/>
                  <a:cs typeface="Roboto Condensed" pitchFamily="34" charset="-120"/>
                </a:rPr>
                <a:t> </a:t>
              </a:r>
              <a:r>
                <a:rPr lang="en-US" sz="1750" b="1" dirty="0" err="1">
                  <a:solidFill>
                    <a:srgbClr val="55575A"/>
                  </a:solidFill>
                  <a:latin typeface="Titillium Web" panose="00000500000000000000" pitchFamily="2" charset="0"/>
                  <a:ea typeface="Roboto Condensed" pitchFamily="34" charset="-122"/>
                  <a:cs typeface="Roboto Condensed" pitchFamily="34" charset="-120"/>
                </a:rPr>
                <a:t>claire</a:t>
              </a:r>
              <a:r>
                <a:rPr lang="en-US" sz="1750" b="1" dirty="0">
                  <a:solidFill>
                    <a:srgbClr val="55575A"/>
                  </a:solidFill>
                  <a:latin typeface="Titillium Web" panose="00000500000000000000" pitchFamily="2" charset="0"/>
                  <a:ea typeface="Roboto Condensed" pitchFamily="34" charset="-122"/>
                  <a:cs typeface="Roboto Condensed" pitchFamily="34" charset="-120"/>
                </a:rPr>
                <a:t> </a:t>
              </a:r>
              <a:r>
                <a:rPr lang="en-US" sz="1750" dirty="0">
                  <a:solidFill>
                    <a:srgbClr val="55575A"/>
                  </a:solidFill>
                  <a:latin typeface="Titillium Web" panose="00000500000000000000" pitchFamily="2" charset="0"/>
                  <a:ea typeface="Roboto Condensed" pitchFamily="34" charset="-122"/>
                  <a:cs typeface="Roboto Condensed" pitchFamily="34" charset="-120"/>
                </a:rPr>
                <a:t>des </a:t>
              </a:r>
              <a:r>
                <a:rPr lang="en-US" sz="1750" dirty="0" err="1">
                  <a:solidFill>
                    <a:srgbClr val="55575A"/>
                  </a:solidFill>
                  <a:latin typeface="Titillium Web" panose="00000500000000000000" pitchFamily="2" charset="0"/>
                  <a:ea typeface="Roboto Condensed" pitchFamily="34" charset="-122"/>
                  <a:cs typeface="Roboto Condensed" pitchFamily="34" charset="-120"/>
                </a:rPr>
                <a:t>responsabilités</a:t>
              </a:r>
              <a:endParaRPr lang="en-US" sz="1750" dirty="0">
                <a:solidFill>
                  <a:srgbClr val="55575A"/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endParaRPr>
            </a:p>
          </p:txBody>
        </p:sp>
        <p:sp>
          <p:nvSpPr>
            <p:cNvPr id="19" name="Text 2">
              <a:extLst>
                <a:ext uri="{FF2B5EF4-FFF2-40B4-BE49-F238E27FC236}">
                  <a16:creationId xmlns:a16="http://schemas.microsoft.com/office/drawing/2014/main" id="{1189C6FE-BDA0-B2D8-3D59-377A053E3ECF}"/>
                </a:ext>
              </a:extLst>
            </p:cNvPr>
            <p:cNvSpPr/>
            <p:nvPr/>
          </p:nvSpPr>
          <p:spPr>
            <a:xfrm>
              <a:off x="7380208" y="2772106"/>
              <a:ext cx="7099467" cy="10616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2500"/>
                </a:lnSpc>
              </a:pPr>
              <a:r>
                <a:rPr lang="en-US" sz="1750" b="1" dirty="0">
                  <a:solidFill>
                    <a:srgbClr val="55575A"/>
                  </a:solidFill>
                  <a:latin typeface="Titillium Web" panose="00000500000000000000" pitchFamily="2" charset="0"/>
                  <a:ea typeface="Roboto Condensed" pitchFamily="34" charset="-122"/>
                  <a:cs typeface="Roboto Condensed" pitchFamily="34" charset="-120"/>
                </a:rPr>
                <a:t>Interfaces </a:t>
              </a:r>
              <a:r>
                <a:rPr lang="en-US" sz="1750" b="1" dirty="0" err="1">
                  <a:solidFill>
                    <a:srgbClr val="55575A"/>
                  </a:solidFill>
                  <a:latin typeface="Titillium Web" panose="00000500000000000000" pitchFamily="2" charset="0"/>
                  <a:ea typeface="Roboto Condensed" pitchFamily="34" charset="-122"/>
                  <a:cs typeface="Roboto Condensed" pitchFamily="34" charset="-120"/>
                </a:rPr>
                <a:t>utilisateur</a:t>
              </a:r>
              <a:r>
                <a:rPr lang="en-US" sz="1750" b="1" dirty="0">
                  <a:solidFill>
                    <a:srgbClr val="55575A"/>
                  </a:solidFill>
                  <a:latin typeface="Titillium Web" panose="00000500000000000000" pitchFamily="2" charset="0"/>
                  <a:ea typeface="Roboto Condensed" pitchFamily="34" charset="-122"/>
                  <a:cs typeface="Roboto Condensed" pitchFamily="34" charset="-120"/>
                </a:rPr>
                <a:t> </a:t>
              </a:r>
            </a:p>
            <a:p>
              <a:pPr marL="285750" indent="-285750">
                <a:lnSpc>
                  <a:spcPts val="2500"/>
                </a:lnSpc>
                <a:buFont typeface="Wingdings" panose="05000000000000000000" pitchFamily="2" charset="2"/>
                <a:buChar char="§"/>
              </a:pPr>
              <a:r>
                <a:rPr lang="en-US" sz="1750" dirty="0">
                  <a:solidFill>
                    <a:srgbClr val="55575A"/>
                  </a:solidFill>
                  <a:latin typeface="Titillium Web" panose="00000500000000000000" pitchFamily="2" charset="0"/>
                  <a:ea typeface="Roboto Condensed" pitchFamily="34" charset="-122"/>
                  <a:cs typeface="Roboto Condensed" pitchFamily="34" charset="-120"/>
                </a:rPr>
                <a:t>Templates HTML CSS JavaScript </a:t>
              </a:r>
            </a:p>
            <a:p>
              <a:pPr marL="285750" indent="-285750">
                <a:lnSpc>
                  <a:spcPts val="2500"/>
                </a:lnSpc>
                <a:buFont typeface="Wingdings" panose="05000000000000000000" pitchFamily="2" charset="2"/>
                <a:buChar char="§"/>
              </a:pPr>
              <a:r>
                <a:rPr lang="en-US" sz="1750" dirty="0">
                  <a:solidFill>
                    <a:srgbClr val="55575A"/>
                  </a:solidFill>
                  <a:latin typeface="Titillium Web" panose="00000500000000000000" pitchFamily="2" charset="0"/>
                  <a:ea typeface="Roboto Condensed" pitchFamily="34" charset="-122"/>
                  <a:cs typeface="Roboto Condensed" pitchFamily="34" charset="-120"/>
                </a:rPr>
                <a:t>Vues </a:t>
              </a:r>
              <a:r>
                <a:rPr lang="en-US" sz="1750" dirty="0" err="1">
                  <a:solidFill>
                    <a:srgbClr val="55575A"/>
                  </a:solidFill>
                  <a:latin typeface="Titillium Web" panose="00000500000000000000" pitchFamily="2" charset="0"/>
                  <a:ea typeface="Roboto Condensed" pitchFamily="34" charset="-122"/>
                  <a:cs typeface="Roboto Condensed" pitchFamily="34" charset="-120"/>
                </a:rPr>
                <a:t>instanciées</a:t>
              </a:r>
              <a:r>
                <a:rPr lang="en-US" sz="1750" dirty="0">
                  <a:solidFill>
                    <a:srgbClr val="55575A"/>
                  </a:solidFill>
                  <a:latin typeface="Titillium Web" panose="00000500000000000000" pitchFamily="2" charset="0"/>
                  <a:ea typeface="Roboto Condensed" pitchFamily="34" charset="-122"/>
                  <a:cs typeface="Roboto Condensed" pitchFamily="34" charset="-120"/>
                </a:rPr>
                <a:t> par la </a:t>
              </a:r>
              <a:r>
                <a:rPr lang="en-US" sz="1750" dirty="0" err="1">
                  <a:solidFill>
                    <a:srgbClr val="55575A"/>
                  </a:solidFill>
                  <a:latin typeface="Titillium Web" panose="00000500000000000000" pitchFamily="2" charset="0"/>
                  <a:ea typeface="Roboto Condensed" pitchFamily="34" charset="-122"/>
                  <a:cs typeface="Roboto Condensed" pitchFamily="34" charset="-120"/>
                </a:rPr>
                <a:t>méthode</a:t>
              </a:r>
              <a:r>
                <a:rPr lang="en-US" sz="1750" dirty="0">
                  <a:solidFill>
                    <a:srgbClr val="55575A"/>
                  </a:solidFill>
                  <a:latin typeface="Titillium Web" panose="00000500000000000000" pitchFamily="2" charset="0"/>
                  <a:ea typeface="Roboto Condensed" pitchFamily="34" charset="-122"/>
                  <a:cs typeface="Roboto Condensed" pitchFamily="34" charset="-120"/>
                </a:rPr>
                <a:t> render</a:t>
              </a:r>
            </a:p>
          </p:txBody>
        </p:sp>
      </p:grpSp>
      <p:pic>
        <p:nvPicPr>
          <p:cNvPr id="27" name="Image 26">
            <a:extLst>
              <a:ext uri="{FF2B5EF4-FFF2-40B4-BE49-F238E27FC236}">
                <a16:creationId xmlns:a16="http://schemas.microsoft.com/office/drawing/2014/main" id="{CE8A1735-DDA0-2714-6BA1-AF0A16529E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1688" y="1489501"/>
            <a:ext cx="5282517" cy="5250598"/>
          </a:xfrm>
          <a:prstGeom prst="roundRect">
            <a:avLst>
              <a:gd name="adj" fmla="val 5536"/>
            </a:avLst>
          </a:prstGeom>
        </p:spPr>
      </p:pic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308A47B8-4E86-EFC2-6BF2-DF835B529DFB}"/>
              </a:ext>
            </a:extLst>
          </p:cNvPr>
          <p:cNvSpPr/>
          <p:nvPr/>
        </p:nvSpPr>
        <p:spPr>
          <a:xfrm>
            <a:off x="12320630" y="2496562"/>
            <a:ext cx="1692000" cy="182069"/>
          </a:xfrm>
          <a:prstGeom prst="roundRect">
            <a:avLst/>
          </a:prstGeom>
          <a:noFill/>
          <a:ln w="25400">
            <a:solidFill>
              <a:srgbClr val="E10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3B415555-B004-3289-F93F-222C5AE24FFB}"/>
              </a:ext>
            </a:extLst>
          </p:cNvPr>
          <p:cNvSpPr/>
          <p:nvPr/>
        </p:nvSpPr>
        <p:spPr>
          <a:xfrm>
            <a:off x="793789" y="7190997"/>
            <a:ext cx="13230415" cy="530797"/>
          </a:xfrm>
          <a:prstGeom prst="roundRect">
            <a:avLst>
              <a:gd name="adj" fmla="val 1033"/>
            </a:avLst>
          </a:prstGeom>
          <a:solidFill>
            <a:srgbClr val="D8D9D2"/>
          </a:solidFill>
          <a:ln/>
        </p:spPr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2E9A74CB-68DF-B33F-A23B-602E024EF821}"/>
              </a:ext>
            </a:extLst>
          </p:cNvPr>
          <p:cNvSpPr/>
          <p:nvPr/>
        </p:nvSpPr>
        <p:spPr>
          <a:xfrm>
            <a:off x="1037969" y="7215711"/>
            <a:ext cx="13654216" cy="519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7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Entities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absentes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pour ne pas alourdir le code. Avec un ORM, cela aurait été indispensable.</a:t>
            </a:r>
          </a:p>
          <a:p>
            <a:pPr>
              <a:lnSpc>
                <a:spcPct val="150000"/>
              </a:lnSpc>
            </a:pP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74706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F83B1-3235-C131-D78C-238966E03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>
            <a:extLst>
              <a:ext uri="{FF2B5EF4-FFF2-40B4-BE49-F238E27FC236}">
                <a16:creationId xmlns:a16="http://schemas.microsoft.com/office/drawing/2014/main" id="{03212019-6C25-D34C-9124-075CF02C2AA7}"/>
              </a:ext>
            </a:extLst>
          </p:cNvPr>
          <p:cNvSpPr/>
          <p:nvPr/>
        </p:nvSpPr>
        <p:spPr>
          <a:xfrm>
            <a:off x="793790" y="1436707"/>
            <a:ext cx="7726262" cy="3135294"/>
          </a:xfrm>
          <a:prstGeom prst="roundRect">
            <a:avLst>
              <a:gd name="adj" fmla="val 1033"/>
            </a:avLst>
          </a:prstGeom>
          <a:solidFill>
            <a:srgbClr val="D8D9D2"/>
          </a:solidFill>
          <a:ln/>
        </p:spPr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6F7C619B-6784-4B62-4B6A-0FE264D2FCF9}"/>
              </a:ext>
            </a:extLst>
          </p:cNvPr>
          <p:cNvSpPr/>
          <p:nvPr/>
        </p:nvSpPr>
        <p:spPr>
          <a:xfrm>
            <a:off x="1290578" y="1894676"/>
            <a:ext cx="7218423" cy="2397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Contrôleurs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enfants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Méthodes de la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logique métier 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create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()               index()               update()               </a:t>
            </a:r>
            <a:r>
              <a:rPr lang="fr-FR" sz="17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delete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()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Créer                     Lire               Mettre à jour        Supprimer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Requêtes préparées 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: Protéger des injections SQL</a:t>
            </a:r>
          </a:p>
          <a:p>
            <a:pPr>
              <a:lnSpc>
                <a:spcPct val="150000"/>
              </a:lnSpc>
            </a:pP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D10052BC-CDC1-ECFF-25D5-4AEBD2E253D1}"/>
              </a:ext>
            </a:extLst>
          </p:cNvPr>
          <p:cNvSpPr/>
          <p:nvPr/>
        </p:nvSpPr>
        <p:spPr>
          <a:xfrm>
            <a:off x="793790" y="538222"/>
            <a:ext cx="669036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5550"/>
              </a:lnSpc>
            </a:pPr>
            <a:r>
              <a:rPr lang="en-US" sz="445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COMPOSANTS MÉTIERS</a:t>
            </a: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BD6239EA-360E-8C5B-D013-94BDE5F99DBD}"/>
              </a:ext>
            </a:extLst>
          </p:cNvPr>
          <p:cNvSpPr/>
          <p:nvPr/>
        </p:nvSpPr>
        <p:spPr>
          <a:xfrm>
            <a:off x="1074475" y="1552456"/>
            <a:ext cx="7569994" cy="176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CRUD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D9B045FC-CB7D-69EE-DBED-F8D62D3840E5}"/>
              </a:ext>
            </a:extLst>
          </p:cNvPr>
          <p:cNvSpPr txBox="1"/>
          <p:nvPr/>
        </p:nvSpPr>
        <p:spPr>
          <a:xfrm>
            <a:off x="7312694" y="707945"/>
            <a:ext cx="69379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1800" b="1" dirty="0">
                <a:solidFill>
                  <a:srgbClr val="E10600"/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(voir dossier p.18 et annexe p.49)</a:t>
            </a:r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734579F7-E590-13DF-A7D4-506E7B32A2BE}"/>
              </a:ext>
            </a:extLst>
          </p:cNvPr>
          <p:cNvSpPr/>
          <p:nvPr/>
        </p:nvSpPr>
        <p:spPr>
          <a:xfrm>
            <a:off x="782739" y="4776780"/>
            <a:ext cx="7726262" cy="3135294"/>
          </a:xfrm>
          <a:prstGeom prst="roundRect">
            <a:avLst>
              <a:gd name="adj" fmla="val 1033"/>
            </a:avLst>
          </a:prstGeom>
          <a:solidFill>
            <a:srgbClr val="D8D9D2"/>
          </a:solidFill>
          <a:ln/>
        </p:spPr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5B30357E-725D-8EEC-4C89-B3DEAFE9B3CB}"/>
              </a:ext>
            </a:extLst>
          </p:cNvPr>
          <p:cNvSpPr/>
          <p:nvPr/>
        </p:nvSpPr>
        <p:spPr>
          <a:xfrm>
            <a:off x="1279527" y="5234749"/>
            <a:ext cx="7218423" cy="2397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Classe abstraite dont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héritent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tous les contrôleurs enfants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Réuni les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fonctionnalités communes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Méthode </a:t>
            </a:r>
            <a:r>
              <a:rPr lang="fr-FR" sz="17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authMiddleware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: sécurisation grâce à la classe </a:t>
            </a:r>
            <a:r>
              <a:rPr lang="fr-FR" sz="17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Auth</a:t>
            </a: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Méthode </a:t>
            </a:r>
            <a:r>
              <a:rPr lang="fr-FR" sz="17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render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pour générer les Vues </a:t>
            </a:r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3B236D70-CEB9-87D2-F972-8E5A3079AEC8}"/>
              </a:ext>
            </a:extLst>
          </p:cNvPr>
          <p:cNvSpPr/>
          <p:nvPr/>
        </p:nvSpPr>
        <p:spPr>
          <a:xfrm>
            <a:off x="1063424" y="4892529"/>
            <a:ext cx="7569994" cy="176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CONTROLLER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B910E5B-FA09-5E46-D536-42EBC9F350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0736" y="1436707"/>
            <a:ext cx="5384057" cy="3135294"/>
          </a:xfrm>
          <a:prstGeom prst="rect">
            <a:avLst/>
          </a:prstGeom>
        </p:spPr>
      </p:pic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0C79338B-1CC3-FED1-50B0-29FF2612853B}"/>
              </a:ext>
            </a:extLst>
          </p:cNvPr>
          <p:cNvSpPr/>
          <p:nvPr/>
        </p:nvSpPr>
        <p:spPr>
          <a:xfrm>
            <a:off x="9673439" y="3272066"/>
            <a:ext cx="1692000" cy="182069"/>
          </a:xfrm>
          <a:prstGeom prst="roundRect">
            <a:avLst/>
          </a:prstGeom>
          <a:noFill/>
          <a:ln w="25400">
            <a:solidFill>
              <a:srgbClr val="E10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63B467D7-A3A6-58E6-DC85-4B3E498319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0735" y="5119517"/>
            <a:ext cx="5384103" cy="2592009"/>
          </a:xfrm>
          <a:prstGeom prst="rect">
            <a:avLst/>
          </a:prstGeom>
        </p:spPr>
      </p:pic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45EE912F-60CA-CE7B-24E6-118D368E5D8E}"/>
              </a:ext>
            </a:extLst>
          </p:cNvPr>
          <p:cNvSpPr/>
          <p:nvPr/>
        </p:nvSpPr>
        <p:spPr>
          <a:xfrm>
            <a:off x="8815864" y="5484760"/>
            <a:ext cx="1872000" cy="182069"/>
          </a:xfrm>
          <a:prstGeom prst="roundRect">
            <a:avLst/>
          </a:prstGeom>
          <a:noFill/>
          <a:ln w="25400">
            <a:solidFill>
              <a:srgbClr val="E10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AB7DA07F-24AD-445C-4EE1-952B23C8EF74}"/>
              </a:ext>
            </a:extLst>
          </p:cNvPr>
          <p:cNvSpPr/>
          <p:nvPr/>
        </p:nvSpPr>
        <p:spPr>
          <a:xfrm>
            <a:off x="10429439" y="6176784"/>
            <a:ext cx="3564000" cy="182069"/>
          </a:xfrm>
          <a:prstGeom prst="roundRect">
            <a:avLst/>
          </a:prstGeom>
          <a:noFill/>
          <a:ln w="25400">
            <a:solidFill>
              <a:srgbClr val="E10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18B61749-DFC1-AD18-7A94-4D997F7BF88F}"/>
              </a:ext>
            </a:extLst>
          </p:cNvPr>
          <p:cNvSpPr/>
          <p:nvPr/>
        </p:nvSpPr>
        <p:spPr>
          <a:xfrm>
            <a:off x="10211450" y="6862343"/>
            <a:ext cx="2772000" cy="182069"/>
          </a:xfrm>
          <a:prstGeom prst="roundRect">
            <a:avLst/>
          </a:prstGeom>
          <a:noFill/>
          <a:ln w="25400">
            <a:solidFill>
              <a:srgbClr val="E10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7056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DBD0A-E89C-6CBA-3EE7-5886CC7C2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>
            <a:extLst>
              <a:ext uri="{FF2B5EF4-FFF2-40B4-BE49-F238E27FC236}">
                <a16:creationId xmlns:a16="http://schemas.microsoft.com/office/drawing/2014/main" id="{0257A9B9-B787-85D7-993C-5B8FF6B57A0C}"/>
              </a:ext>
            </a:extLst>
          </p:cNvPr>
          <p:cNvSpPr/>
          <p:nvPr/>
        </p:nvSpPr>
        <p:spPr>
          <a:xfrm>
            <a:off x="793790" y="1436707"/>
            <a:ext cx="7779260" cy="3135294"/>
          </a:xfrm>
          <a:prstGeom prst="roundRect">
            <a:avLst>
              <a:gd name="adj" fmla="val 1033"/>
            </a:avLst>
          </a:prstGeom>
          <a:solidFill>
            <a:srgbClr val="D8D9D2"/>
          </a:solidFill>
          <a:ln/>
        </p:spPr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F04FDEC9-7F0B-84B7-08D6-F6C4D9A3F031}"/>
              </a:ext>
            </a:extLst>
          </p:cNvPr>
          <p:cNvSpPr/>
          <p:nvPr/>
        </p:nvSpPr>
        <p:spPr>
          <a:xfrm>
            <a:off x="1290578" y="1894676"/>
            <a:ext cx="7218423" cy="2397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Classe </a:t>
            </a:r>
            <a:r>
              <a:rPr lang="fr-FR" sz="17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DbConnect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dans le cœur de l’application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Connexion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centralisée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PDO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, natif PHP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Sécurité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 avec les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attributs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PDO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Maîtrise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des requêtes SQL</a:t>
            </a:r>
          </a:p>
          <a:p>
            <a:pPr>
              <a:lnSpc>
                <a:spcPct val="150000"/>
              </a:lnSpc>
            </a:pP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40CCD13B-04AB-722E-6911-7DB70E381535}"/>
              </a:ext>
            </a:extLst>
          </p:cNvPr>
          <p:cNvSpPr/>
          <p:nvPr/>
        </p:nvSpPr>
        <p:spPr>
          <a:xfrm>
            <a:off x="793790" y="538222"/>
            <a:ext cx="669036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5550"/>
              </a:lnSpc>
            </a:pPr>
            <a:r>
              <a:rPr lang="en-US" sz="445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COMPOSANTS D’ACCÈS AUX DONNÉES</a:t>
            </a: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56E1BA46-2264-6F3C-8F8C-4F4660ABC35F}"/>
              </a:ext>
            </a:extLst>
          </p:cNvPr>
          <p:cNvSpPr/>
          <p:nvPr/>
        </p:nvSpPr>
        <p:spPr>
          <a:xfrm>
            <a:off x="1074475" y="1552456"/>
            <a:ext cx="7569994" cy="176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Core/</a:t>
            </a:r>
            <a:r>
              <a:rPr lang="en-US" sz="2000" b="1" i="1" dirty="0" err="1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DbConnect.php</a:t>
            </a:r>
            <a:endParaRPr lang="en-US" sz="2000" b="1" i="1" dirty="0">
              <a:solidFill>
                <a:srgbClr val="0C0D0F"/>
              </a:solidFill>
              <a:latin typeface="Poppins" panose="00000500000000000000" pitchFamily="2" charset="0"/>
              <a:ea typeface="Hubot Sans Bold" pitchFamily="34" charset="-122"/>
              <a:cs typeface="Poppins" panose="00000500000000000000" pitchFamily="2" charset="0"/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1E0F77DB-A2F3-BC98-90C2-3AE2AF935B47}"/>
              </a:ext>
            </a:extLst>
          </p:cNvPr>
          <p:cNvSpPr txBox="1"/>
          <p:nvPr/>
        </p:nvSpPr>
        <p:spPr>
          <a:xfrm>
            <a:off x="8800737" y="1386456"/>
            <a:ext cx="56349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800" b="1" dirty="0">
                <a:solidFill>
                  <a:srgbClr val="E10600"/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(voir dossier p.</a:t>
            </a:r>
            <a:r>
              <a:rPr lang="fr-FR" b="1" dirty="0">
                <a:solidFill>
                  <a:srgbClr val="E10600"/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20</a:t>
            </a:r>
            <a:r>
              <a:rPr lang="fr-FR" sz="1800" b="1" dirty="0">
                <a:solidFill>
                  <a:srgbClr val="E10600"/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et annexe p.</a:t>
            </a:r>
            <a:r>
              <a:rPr lang="fr-FR" b="1" dirty="0">
                <a:solidFill>
                  <a:srgbClr val="E10600"/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56</a:t>
            </a:r>
            <a:r>
              <a:rPr lang="fr-FR" sz="1800" b="1" dirty="0">
                <a:solidFill>
                  <a:srgbClr val="E10600"/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)</a:t>
            </a:r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DFE37792-CC05-6C09-B74D-7919DF6C0077}"/>
              </a:ext>
            </a:extLst>
          </p:cNvPr>
          <p:cNvSpPr/>
          <p:nvPr/>
        </p:nvSpPr>
        <p:spPr>
          <a:xfrm>
            <a:off x="846788" y="4776780"/>
            <a:ext cx="7726262" cy="3135294"/>
          </a:xfrm>
          <a:prstGeom prst="roundRect">
            <a:avLst>
              <a:gd name="adj" fmla="val 1033"/>
            </a:avLst>
          </a:prstGeom>
          <a:solidFill>
            <a:srgbClr val="D8D9D2"/>
          </a:solidFill>
          <a:ln/>
        </p:spPr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E67D6B73-1757-C6FE-89E7-E27F61CB65F8}"/>
              </a:ext>
            </a:extLst>
          </p:cNvPr>
          <p:cNvSpPr/>
          <p:nvPr/>
        </p:nvSpPr>
        <p:spPr>
          <a:xfrm>
            <a:off x="1279527" y="5234749"/>
            <a:ext cx="7218423" cy="2397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Héritent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de </a:t>
            </a:r>
            <a:r>
              <a:rPr lang="fr-FR" sz="17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DbConnect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pour la connexion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Exécutent des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requêtes SQL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Requêtes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algorithmes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SQL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Requêtes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préparées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pour la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sécurité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Objets via </a:t>
            </a:r>
            <a:r>
              <a:rPr lang="fr-FR" sz="17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fetch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ou </a:t>
            </a:r>
            <a:r>
              <a:rPr lang="fr-FR" sz="17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fecthAll</a:t>
            </a:r>
            <a:endParaRPr lang="fr-FR" sz="1750" b="1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029594CB-7945-86AE-87A7-9F5DF3666C44}"/>
              </a:ext>
            </a:extLst>
          </p:cNvPr>
          <p:cNvSpPr/>
          <p:nvPr/>
        </p:nvSpPr>
        <p:spPr>
          <a:xfrm>
            <a:off x="1063424" y="4892529"/>
            <a:ext cx="7569994" cy="176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MODELS</a:t>
            </a:r>
          </a:p>
        </p:txBody>
      </p: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B2330E99-94AB-9541-B85E-85494E6EECB6}"/>
              </a:ext>
            </a:extLst>
          </p:cNvPr>
          <p:cNvGrpSpPr>
            <a:grpSpLocks noChangeAspect="1"/>
          </p:cNvGrpSpPr>
          <p:nvPr/>
        </p:nvGrpSpPr>
        <p:grpSpPr>
          <a:xfrm>
            <a:off x="9874379" y="2007963"/>
            <a:ext cx="3600000" cy="5902659"/>
            <a:chOff x="9836851" y="1436706"/>
            <a:chExt cx="3949290" cy="6475368"/>
          </a:xfrm>
        </p:grpSpPr>
        <p:pic>
          <p:nvPicPr>
            <p:cNvPr id="3" name="Image 2">
              <a:extLst>
                <a:ext uri="{FF2B5EF4-FFF2-40B4-BE49-F238E27FC236}">
                  <a16:creationId xmlns:a16="http://schemas.microsoft.com/office/drawing/2014/main" id="{69903641-D2A6-B2BE-2897-84D91A9124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36851" y="1436706"/>
              <a:ext cx="3949290" cy="3534767"/>
            </a:xfrm>
            <a:prstGeom prst="rect">
              <a:avLst/>
            </a:prstGeom>
          </p:spPr>
        </p:pic>
        <p:sp>
          <p:nvSpPr>
            <p:cNvPr id="4" name="Rectangle : coins arrondis 3">
              <a:extLst>
                <a:ext uri="{FF2B5EF4-FFF2-40B4-BE49-F238E27FC236}">
                  <a16:creationId xmlns:a16="http://schemas.microsoft.com/office/drawing/2014/main" id="{5C1E19E8-1FF7-A266-93B0-FE74D8BF33D6}"/>
                </a:ext>
              </a:extLst>
            </p:cNvPr>
            <p:cNvSpPr/>
            <p:nvPr/>
          </p:nvSpPr>
          <p:spPr>
            <a:xfrm>
              <a:off x="11066082" y="3852316"/>
              <a:ext cx="2708484" cy="522913"/>
            </a:xfrm>
            <a:prstGeom prst="roundRect">
              <a:avLst/>
            </a:prstGeom>
            <a:noFill/>
            <a:ln w="25400">
              <a:solidFill>
                <a:srgbClr val="E106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pic>
          <p:nvPicPr>
            <p:cNvPr id="5" name="Image 4">
              <a:extLst>
                <a:ext uri="{FF2B5EF4-FFF2-40B4-BE49-F238E27FC236}">
                  <a16:creationId xmlns:a16="http://schemas.microsoft.com/office/drawing/2014/main" id="{869925B7-9E50-2A86-F04B-D2EB9131BD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36851" y="5292631"/>
              <a:ext cx="3949290" cy="2619443"/>
            </a:xfrm>
            <a:prstGeom prst="rect">
              <a:avLst/>
            </a:prstGeom>
          </p:spPr>
        </p:pic>
        <p:sp>
          <p:nvSpPr>
            <p:cNvPr id="14" name="Rectangle : coins arrondis 13">
              <a:extLst>
                <a:ext uri="{FF2B5EF4-FFF2-40B4-BE49-F238E27FC236}">
                  <a16:creationId xmlns:a16="http://schemas.microsoft.com/office/drawing/2014/main" id="{77ED213A-6988-D826-E0D4-1746C5022DEF}"/>
                </a:ext>
              </a:extLst>
            </p:cNvPr>
            <p:cNvSpPr/>
            <p:nvPr/>
          </p:nvSpPr>
          <p:spPr>
            <a:xfrm>
              <a:off x="11285967" y="5614754"/>
              <a:ext cx="1332000" cy="152400"/>
            </a:xfrm>
            <a:prstGeom prst="roundRect">
              <a:avLst/>
            </a:prstGeom>
            <a:noFill/>
            <a:ln w="25400">
              <a:solidFill>
                <a:srgbClr val="E106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sp>
          <p:nvSpPr>
            <p:cNvPr id="16" name="Rectangle : coins arrondis 15">
              <a:extLst>
                <a:ext uri="{FF2B5EF4-FFF2-40B4-BE49-F238E27FC236}">
                  <a16:creationId xmlns:a16="http://schemas.microsoft.com/office/drawing/2014/main" id="{1A9062CE-24FF-6949-BD93-BF5765B09A28}"/>
                </a:ext>
              </a:extLst>
            </p:cNvPr>
            <p:cNvSpPr/>
            <p:nvPr/>
          </p:nvSpPr>
          <p:spPr>
            <a:xfrm>
              <a:off x="10555187" y="2248450"/>
              <a:ext cx="1656000" cy="152400"/>
            </a:xfrm>
            <a:prstGeom prst="roundRect">
              <a:avLst/>
            </a:prstGeom>
            <a:noFill/>
            <a:ln w="25400">
              <a:solidFill>
                <a:srgbClr val="E106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sp>
          <p:nvSpPr>
            <p:cNvPr id="20" name="Rectangle : coins arrondis 19">
              <a:extLst>
                <a:ext uri="{FF2B5EF4-FFF2-40B4-BE49-F238E27FC236}">
                  <a16:creationId xmlns:a16="http://schemas.microsoft.com/office/drawing/2014/main" id="{B65DB57F-EFEB-C38B-0B72-60C01BA5B49F}"/>
                </a:ext>
              </a:extLst>
            </p:cNvPr>
            <p:cNvSpPr/>
            <p:nvPr/>
          </p:nvSpPr>
          <p:spPr>
            <a:xfrm>
              <a:off x="9868012" y="1441263"/>
              <a:ext cx="1008000" cy="152400"/>
            </a:xfrm>
            <a:prstGeom prst="roundRect">
              <a:avLst/>
            </a:prstGeom>
            <a:noFill/>
            <a:ln w="25400">
              <a:solidFill>
                <a:srgbClr val="E106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sp>
          <p:nvSpPr>
            <p:cNvPr id="22" name="Rectangle : coins arrondis 21">
              <a:extLst>
                <a:ext uri="{FF2B5EF4-FFF2-40B4-BE49-F238E27FC236}">
                  <a16:creationId xmlns:a16="http://schemas.microsoft.com/office/drawing/2014/main" id="{355CB062-D86F-FBCF-7817-967EB8ABC986}"/>
                </a:ext>
              </a:extLst>
            </p:cNvPr>
            <p:cNvSpPr/>
            <p:nvPr/>
          </p:nvSpPr>
          <p:spPr>
            <a:xfrm>
              <a:off x="10784421" y="7498669"/>
              <a:ext cx="1296000" cy="152400"/>
            </a:xfrm>
            <a:prstGeom prst="roundRect">
              <a:avLst/>
            </a:prstGeom>
            <a:noFill/>
            <a:ln w="25400">
              <a:solidFill>
                <a:srgbClr val="E106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433223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A6538-FD4B-0B45-CCA0-8D8FF32C6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1">
            <a:extLst>
              <a:ext uri="{FF2B5EF4-FFF2-40B4-BE49-F238E27FC236}">
                <a16:creationId xmlns:a16="http://schemas.microsoft.com/office/drawing/2014/main" id="{554C9865-C923-F47B-53A6-7EFE25A81FF5}"/>
              </a:ext>
            </a:extLst>
          </p:cNvPr>
          <p:cNvSpPr/>
          <p:nvPr/>
        </p:nvSpPr>
        <p:spPr>
          <a:xfrm>
            <a:off x="793907" y="3935388"/>
            <a:ext cx="13042586" cy="3472410"/>
          </a:xfrm>
          <a:prstGeom prst="roundRect">
            <a:avLst>
              <a:gd name="adj" fmla="val 1033"/>
            </a:avLst>
          </a:prstGeom>
          <a:solidFill>
            <a:srgbClr val="D8D9D2"/>
          </a:solidFill>
          <a:ln/>
        </p:spPr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8D26094A-6777-6D26-D9BB-D9DD9E3E9340}"/>
              </a:ext>
            </a:extLst>
          </p:cNvPr>
          <p:cNvSpPr/>
          <p:nvPr/>
        </p:nvSpPr>
        <p:spPr>
          <a:xfrm>
            <a:off x="793908" y="3084644"/>
            <a:ext cx="128989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550"/>
              </a:lnSpc>
              <a:buNone/>
            </a:pPr>
            <a:endParaRPr lang="en-US" sz="4450" b="1" i="1" dirty="0">
              <a:solidFill>
                <a:srgbClr val="0C0D0F"/>
              </a:solidFill>
              <a:latin typeface="Poppins" panose="00000500000000000000" pitchFamily="2" charset="0"/>
              <a:ea typeface="Hubot Sans Bold" pitchFamily="34" charset="-122"/>
              <a:cs typeface="Poppins" panose="00000500000000000000" pitchFamily="2" charset="0"/>
            </a:endParaRPr>
          </a:p>
          <a:p>
            <a:pPr marL="0" indent="0" algn="l">
              <a:lnSpc>
                <a:spcPts val="5550"/>
              </a:lnSpc>
              <a:buNone/>
            </a:pPr>
            <a:r>
              <a:rPr lang="fr-FR" sz="445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ÉLÉMENTS DE SÉCURITÉ</a:t>
            </a:r>
            <a:endParaRPr lang="en-US" sz="4450" b="1" i="1" dirty="0">
              <a:solidFill>
                <a:srgbClr val="0C0D0F"/>
              </a:solidFill>
              <a:latin typeface="Poppins" panose="00000500000000000000" pitchFamily="2" charset="0"/>
              <a:ea typeface="Hubot Sans Bold" pitchFamily="34" charset="-122"/>
              <a:cs typeface="Poppins" panose="00000500000000000000" pitchFamily="2" charset="0"/>
            </a:endParaRPr>
          </a:p>
          <a:p>
            <a:pPr marL="0" indent="0" algn="l">
              <a:lnSpc>
                <a:spcPts val="5550"/>
              </a:lnSpc>
              <a:buNone/>
            </a:pPr>
            <a:endParaRPr lang="en-US" sz="4450" b="1" i="1" dirty="0">
              <a:solidFill>
                <a:srgbClr val="0C0D0F"/>
              </a:solidFill>
              <a:latin typeface="Poppins" panose="00000500000000000000" pitchFamily="2" charset="0"/>
              <a:ea typeface="Hubot Sans Bold" pitchFamily="34" charset="-122"/>
              <a:cs typeface="Poppins" panose="00000500000000000000" pitchFamily="2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B5BAE45-7E96-9648-BE76-FC8F6A6FCB21}"/>
              </a:ext>
            </a:extLst>
          </p:cNvPr>
          <p:cNvSpPr/>
          <p:nvPr/>
        </p:nvSpPr>
        <p:spPr>
          <a:xfrm>
            <a:off x="793908" y="2593530"/>
            <a:ext cx="753656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5000" b="1" i="1" dirty="0">
                <a:solidFill>
                  <a:srgbClr val="E10600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04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27C995A-EC27-C0CE-26E1-4F10FA0E2C92}"/>
              </a:ext>
            </a:extLst>
          </p:cNvPr>
          <p:cNvSpPr/>
          <p:nvPr/>
        </p:nvSpPr>
        <p:spPr>
          <a:xfrm>
            <a:off x="793908" y="2948574"/>
            <a:ext cx="4196358" cy="72000"/>
          </a:xfrm>
          <a:prstGeom prst="rect">
            <a:avLst/>
          </a:prstGeom>
          <a:solidFill>
            <a:srgbClr val="C8CAC1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19641F4-307A-CDFD-66D9-C0B3186A9BBD}"/>
              </a:ext>
            </a:extLst>
          </p:cNvPr>
          <p:cNvSpPr/>
          <p:nvPr/>
        </p:nvSpPr>
        <p:spPr>
          <a:xfrm>
            <a:off x="1170736" y="4568621"/>
            <a:ext cx="12221173" cy="2376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Roboto Condensed" pitchFamily="34" charset="-122"/>
                <a:cs typeface="Poppins" panose="00000500000000000000" pitchFamily="2" charset="0"/>
              </a:rPr>
              <a:t>SESSIONS &amp; AUTHENTIFICATIONS</a:t>
            </a:r>
          </a:p>
          <a:p>
            <a:pPr marL="0" indent="0" algn="l">
              <a:buNone/>
            </a:pPr>
            <a:r>
              <a:rPr lang="en-US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Roboto Condensed" pitchFamily="34" charset="-122"/>
                <a:cs typeface="Poppins" panose="00000500000000000000" pitchFamily="2" charset="0"/>
              </a:rPr>
              <a:t>SÉCURISATION DES MOTS DE PASSE</a:t>
            </a:r>
          </a:p>
          <a:p>
            <a:pPr marL="0" indent="0" algn="l">
              <a:buNone/>
            </a:pPr>
            <a:r>
              <a:rPr lang="en-US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Roboto Condensed" pitchFamily="34" charset="-122"/>
                <a:cs typeface="Poppins" panose="00000500000000000000" pitchFamily="2" charset="0"/>
              </a:rPr>
              <a:t>REQUÊTES PRÉPARÉES</a:t>
            </a:r>
          </a:p>
          <a:p>
            <a:pPr marL="0" indent="0" algn="l">
              <a:buNone/>
            </a:pPr>
            <a:r>
              <a:rPr lang="fr-FR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Roboto Condensed" pitchFamily="34" charset="-122"/>
                <a:cs typeface="Poppins" panose="00000500000000000000" pitchFamily="2" charset="0"/>
              </a:rPr>
              <a:t>PROTECTIONS XSS &amp; TOKENS CSRF</a:t>
            </a:r>
            <a:endParaRPr lang="en-US" sz="3000" b="1" dirty="0">
              <a:solidFill>
                <a:schemeClr val="tx1">
                  <a:lumMod val="65000"/>
                  <a:lumOff val="35000"/>
                </a:schemeClr>
              </a:solidFill>
              <a:latin typeface="Poppins" panose="00000500000000000000" pitchFamily="2" charset="0"/>
              <a:ea typeface="Roboto Condensed" pitchFamily="34" charset="-122"/>
              <a:cs typeface="Poppins" panose="00000500000000000000" pitchFamily="2" charset="0"/>
            </a:endParaRPr>
          </a:p>
          <a:p>
            <a:pPr marL="0" indent="0" algn="l">
              <a:buNone/>
            </a:pPr>
            <a:endParaRPr lang="en-US" sz="3000" b="1" dirty="0">
              <a:solidFill>
                <a:schemeClr val="tx1">
                  <a:lumMod val="65000"/>
                  <a:lumOff val="35000"/>
                </a:schemeClr>
              </a:solidFill>
              <a:latin typeface="Poppins" panose="00000500000000000000" pitchFamily="2" charset="0"/>
              <a:ea typeface="Roboto Condensed" pitchFamily="34" charset="-122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0449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ferris dir="r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148DB-3363-24D1-FD28-1B4661F32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AE4E8F58-58FE-F0D3-138F-8ED425C622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9195" y="1714285"/>
            <a:ext cx="4342930" cy="3811768"/>
          </a:xfrm>
          <a:prstGeom prst="rect">
            <a:avLst/>
          </a:prstGeom>
        </p:spPr>
      </p:pic>
      <p:sp>
        <p:nvSpPr>
          <p:cNvPr id="6" name="Shape 1">
            <a:extLst>
              <a:ext uri="{FF2B5EF4-FFF2-40B4-BE49-F238E27FC236}">
                <a16:creationId xmlns:a16="http://schemas.microsoft.com/office/drawing/2014/main" id="{16883991-372A-877C-A3CD-A58181C6DF30}"/>
              </a:ext>
            </a:extLst>
          </p:cNvPr>
          <p:cNvSpPr/>
          <p:nvPr/>
        </p:nvSpPr>
        <p:spPr>
          <a:xfrm>
            <a:off x="793790" y="1714500"/>
            <a:ext cx="7726262" cy="6197573"/>
          </a:xfrm>
          <a:prstGeom prst="roundRect">
            <a:avLst>
              <a:gd name="adj" fmla="val 1033"/>
            </a:avLst>
          </a:prstGeom>
          <a:solidFill>
            <a:srgbClr val="D8D9D2"/>
          </a:solidFill>
          <a:ln/>
        </p:spPr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AACF405A-18E6-3850-CCB1-5D20ED07FC90}"/>
              </a:ext>
            </a:extLst>
          </p:cNvPr>
          <p:cNvSpPr/>
          <p:nvPr/>
        </p:nvSpPr>
        <p:spPr>
          <a:xfrm>
            <a:off x="1290578" y="2172471"/>
            <a:ext cx="7218423" cy="174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Classe </a:t>
            </a:r>
            <a:r>
              <a:rPr lang="fr-FR" sz="17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Auth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dans le cœur de l’application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Méthode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start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: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Paramètres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de sécurité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HTTPS</a:t>
            </a: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Durée de vie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session</a:t>
            </a:r>
          </a:p>
          <a:p>
            <a:pPr>
              <a:lnSpc>
                <a:spcPct val="150000"/>
              </a:lnSpc>
            </a:pP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  <a:p>
            <a:pPr>
              <a:lnSpc>
                <a:spcPct val="150000"/>
              </a:lnSpc>
            </a:pP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68FF846F-0E50-2B78-4397-5EA69381FEBD}"/>
              </a:ext>
            </a:extLst>
          </p:cNvPr>
          <p:cNvSpPr/>
          <p:nvPr/>
        </p:nvSpPr>
        <p:spPr>
          <a:xfrm>
            <a:off x="793790" y="538222"/>
            <a:ext cx="669036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5550"/>
              </a:lnSpc>
            </a:pPr>
            <a:r>
              <a:rPr lang="en-US" sz="445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SESSIONS &amp; AUTHENTIFICATIONS</a:t>
            </a: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FB70BDEB-C372-A0E4-9D5C-1C737E0D90B5}"/>
              </a:ext>
            </a:extLst>
          </p:cNvPr>
          <p:cNvSpPr/>
          <p:nvPr/>
        </p:nvSpPr>
        <p:spPr>
          <a:xfrm>
            <a:off x="1074475" y="1830250"/>
            <a:ext cx="7569994" cy="176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Core/</a:t>
            </a:r>
            <a:r>
              <a:rPr lang="en-US" sz="2000" b="1" i="1" dirty="0" err="1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Auth.php</a:t>
            </a:r>
            <a:endParaRPr lang="en-US" sz="2000" b="1" i="1" dirty="0">
              <a:solidFill>
                <a:srgbClr val="0C0D0F"/>
              </a:solidFill>
              <a:latin typeface="Poppins" panose="00000500000000000000" pitchFamily="2" charset="0"/>
              <a:ea typeface="Hubot Sans Bold" pitchFamily="34" charset="-122"/>
              <a:cs typeface="Poppins" panose="00000500000000000000" pitchFamily="2" charset="0"/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7FB8A4F0-ECD7-B2F9-F2A9-BDA97082AE76}"/>
              </a:ext>
            </a:extLst>
          </p:cNvPr>
          <p:cNvSpPr txBox="1"/>
          <p:nvPr/>
        </p:nvSpPr>
        <p:spPr>
          <a:xfrm>
            <a:off x="8086355" y="672074"/>
            <a:ext cx="56349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1800" b="1" dirty="0">
                <a:solidFill>
                  <a:srgbClr val="E10600"/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(voir dossier p.</a:t>
            </a:r>
            <a:r>
              <a:rPr lang="fr-FR" b="1" dirty="0">
                <a:solidFill>
                  <a:srgbClr val="E10600"/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22</a:t>
            </a:r>
            <a:r>
              <a:rPr lang="fr-FR" sz="1800" b="1" dirty="0">
                <a:solidFill>
                  <a:srgbClr val="E10600"/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)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6B6CF7D0-806E-410D-FD65-B29566A5E32E}"/>
              </a:ext>
            </a:extLst>
          </p:cNvPr>
          <p:cNvSpPr/>
          <p:nvPr/>
        </p:nvSpPr>
        <p:spPr>
          <a:xfrm>
            <a:off x="9982890" y="3204000"/>
            <a:ext cx="3677659" cy="1864849"/>
          </a:xfrm>
          <a:prstGeom prst="roundRect">
            <a:avLst>
              <a:gd name="adj" fmla="val 5495"/>
            </a:avLst>
          </a:prstGeom>
          <a:noFill/>
          <a:ln w="25400">
            <a:solidFill>
              <a:srgbClr val="E10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56489F25-887F-FCF3-C1C1-E40BAD0897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9195" y="5595845"/>
            <a:ext cx="4342930" cy="2316229"/>
          </a:xfrm>
          <a:prstGeom prst="rect">
            <a:avLst/>
          </a:prstGeom>
        </p:spPr>
      </p:pic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A4FA948C-98FE-AEC5-B981-5D6E3863E4F7}"/>
              </a:ext>
            </a:extLst>
          </p:cNvPr>
          <p:cNvSpPr/>
          <p:nvPr/>
        </p:nvSpPr>
        <p:spPr>
          <a:xfrm>
            <a:off x="10430570" y="5798916"/>
            <a:ext cx="1692000" cy="180000"/>
          </a:xfrm>
          <a:prstGeom prst="roundRect">
            <a:avLst>
              <a:gd name="adj" fmla="val 15703"/>
            </a:avLst>
          </a:prstGeom>
          <a:noFill/>
          <a:ln w="25400">
            <a:solidFill>
              <a:srgbClr val="E10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FAB3565D-3890-79F5-B1FB-6809B959F611}"/>
              </a:ext>
            </a:extLst>
          </p:cNvPr>
          <p:cNvSpPr/>
          <p:nvPr/>
        </p:nvSpPr>
        <p:spPr>
          <a:xfrm>
            <a:off x="10418995" y="7002238"/>
            <a:ext cx="3240000" cy="180000"/>
          </a:xfrm>
          <a:prstGeom prst="roundRect">
            <a:avLst>
              <a:gd name="adj" fmla="val 15703"/>
            </a:avLst>
          </a:prstGeom>
          <a:noFill/>
          <a:ln w="25400">
            <a:solidFill>
              <a:srgbClr val="E10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14B81632-27E1-DD55-B264-28AD1F3FD66B}"/>
              </a:ext>
            </a:extLst>
          </p:cNvPr>
          <p:cNvSpPr/>
          <p:nvPr/>
        </p:nvSpPr>
        <p:spPr>
          <a:xfrm>
            <a:off x="1074475" y="4096446"/>
            <a:ext cx="7569994" cy="176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check &amp; </a:t>
            </a:r>
            <a:r>
              <a:rPr lang="en-US" sz="2000" b="1" i="1" dirty="0" err="1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hasRole</a:t>
            </a:r>
            <a:endParaRPr lang="en-US" sz="2000" b="1" i="1" dirty="0">
              <a:solidFill>
                <a:srgbClr val="0C0D0F"/>
              </a:solidFill>
              <a:latin typeface="Poppins" panose="00000500000000000000" pitchFamily="2" charset="0"/>
              <a:ea typeface="Hubot Sans Bold" pitchFamily="34" charset="-122"/>
              <a:cs typeface="Poppins" panose="00000500000000000000" pitchFamily="2" charset="0"/>
            </a:endParaRPr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2D19DA40-7FEC-CEDA-6A82-5266D584AFC5}"/>
              </a:ext>
            </a:extLst>
          </p:cNvPr>
          <p:cNvSpPr/>
          <p:nvPr/>
        </p:nvSpPr>
        <p:spPr>
          <a:xfrm>
            <a:off x="1074475" y="4449086"/>
            <a:ext cx="7218423" cy="174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  <a:p>
            <a:pPr>
              <a:lnSpc>
                <a:spcPct val="150000"/>
              </a:lnSpc>
            </a:pP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  <a:p>
            <a:pPr>
              <a:lnSpc>
                <a:spcPct val="150000"/>
              </a:lnSpc>
            </a:pP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</p:txBody>
      </p:sp>
      <p:sp>
        <p:nvSpPr>
          <p:cNvPr id="26" name="Text 2">
            <a:extLst>
              <a:ext uri="{FF2B5EF4-FFF2-40B4-BE49-F238E27FC236}">
                <a16:creationId xmlns:a16="http://schemas.microsoft.com/office/drawing/2014/main" id="{C08D3564-49E3-B4E7-B644-4171DFBF6F4D}"/>
              </a:ext>
            </a:extLst>
          </p:cNvPr>
          <p:cNvSpPr/>
          <p:nvPr/>
        </p:nvSpPr>
        <p:spPr>
          <a:xfrm>
            <a:off x="1250260" y="4432923"/>
            <a:ext cx="7218423" cy="2384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Si utilisateur est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connecté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Si utilisateur possède un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rôle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Centralisation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des vérifications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Sécurise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l’accès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Contrôleurs enfants en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bénéficient</a:t>
            </a: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  <a:p>
            <a:pPr>
              <a:lnSpc>
                <a:spcPct val="150000"/>
              </a:lnSpc>
            </a:pP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1862656D-D984-DFFB-D16C-FABC5CB7219F}"/>
              </a:ext>
            </a:extLst>
          </p:cNvPr>
          <p:cNvSpPr/>
          <p:nvPr/>
        </p:nvSpPr>
        <p:spPr>
          <a:xfrm>
            <a:off x="10488445" y="1999733"/>
            <a:ext cx="1116000" cy="180000"/>
          </a:xfrm>
          <a:prstGeom prst="roundRect">
            <a:avLst>
              <a:gd name="adj" fmla="val 15703"/>
            </a:avLst>
          </a:prstGeom>
          <a:noFill/>
          <a:ln w="25400">
            <a:solidFill>
              <a:srgbClr val="E10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1445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C2B15-72A8-0FC4-AE01-4975EE216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1">
            <a:extLst>
              <a:ext uri="{FF2B5EF4-FFF2-40B4-BE49-F238E27FC236}">
                <a16:creationId xmlns:a16="http://schemas.microsoft.com/office/drawing/2014/main" id="{8B4C0EEE-30CD-62EC-DA43-6DC1ABA76974}"/>
              </a:ext>
            </a:extLst>
          </p:cNvPr>
          <p:cNvSpPr/>
          <p:nvPr/>
        </p:nvSpPr>
        <p:spPr>
          <a:xfrm>
            <a:off x="778858" y="4134453"/>
            <a:ext cx="13072681" cy="530797"/>
          </a:xfrm>
          <a:prstGeom prst="roundRect">
            <a:avLst>
              <a:gd name="adj" fmla="val 1033"/>
            </a:avLst>
          </a:prstGeom>
          <a:solidFill>
            <a:srgbClr val="D8D9D2"/>
          </a:solidFill>
          <a:ln/>
        </p:spPr>
      </p:sp>
      <p:sp>
        <p:nvSpPr>
          <p:cNvPr id="20" name="Shape 1">
            <a:extLst>
              <a:ext uri="{FF2B5EF4-FFF2-40B4-BE49-F238E27FC236}">
                <a16:creationId xmlns:a16="http://schemas.microsoft.com/office/drawing/2014/main" id="{D643D3E9-0499-8A5A-6A6E-73BB8BBA0A8D}"/>
              </a:ext>
            </a:extLst>
          </p:cNvPr>
          <p:cNvSpPr/>
          <p:nvPr/>
        </p:nvSpPr>
        <p:spPr>
          <a:xfrm>
            <a:off x="793790" y="2914692"/>
            <a:ext cx="13072681" cy="1013248"/>
          </a:xfrm>
          <a:prstGeom prst="roundRect">
            <a:avLst>
              <a:gd name="adj" fmla="val 1033"/>
            </a:avLst>
          </a:prstGeom>
          <a:solidFill>
            <a:srgbClr val="D8D9D2"/>
          </a:solidFill>
          <a:ln/>
        </p:spPr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0B13EF9-A102-315B-7197-6677645D9D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0174" y="4891266"/>
            <a:ext cx="6526182" cy="2847770"/>
          </a:xfrm>
          <a:prstGeom prst="rect">
            <a:avLst/>
          </a:prstGeom>
        </p:spPr>
      </p:pic>
      <p:sp>
        <p:nvSpPr>
          <p:cNvPr id="6" name="Shape 1">
            <a:extLst>
              <a:ext uri="{FF2B5EF4-FFF2-40B4-BE49-F238E27FC236}">
                <a16:creationId xmlns:a16="http://schemas.microsoft.com/office/drawing/2014/main" id="{C2545F09-A136-9F2B-DFD5-D6E4D71CA69D}"/>
              </a:ext>
            </a:extLst>
          </p:cNvPr>
          <p:cNvSpPr/>
          <p:nvPr/>
        </p:nvSpPr>
        <p:spPr>
          <a:xfrm>
            <a:off x="778859" y="1694859"/>
            <a:ext cx="13072681" cy="1013248"/>
          </a:xfrm>
          <a:prstGeom prst="roundRect">
            <a:avLst>
              <a:gd name="adj" fmla="val 1033"/>
            </a:avLst>
          </a:prstGeom>
          <a:solidFill>
            <a:srgbClr val="D8D9D2"/>
          </a:solidFill>
          <a:ln/>
        </p:spPr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B092D1B2-04CC-0F1E-5691-359D1B00F9A9}"/>
              </a:ext>
            </a:extLst>
          </p:cNvPr>
          <p:cNvSpPr/>
          <p:nvPr/>
        </p:nvSpPr>
        <p:spPr>
          <a:xfrm>
            <a:off x="1290578" y="2172471"/>
            <a:ext cx="7218423" cy="679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Gestion des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utilisateurs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  <a:p>
            <a:pPr>
              <a:lnSpc>
                <a:spcPct val="150000"/>
              </a:lnSpc>
            </a:pP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60E2D08E-BD73-9E02-15E5-DD558B48FE83}"/>
              </a:ext>
            </a:extLst>
          </p:cNvPr>
          <p:cNvSpPr/>
          <p:nvPr/>
        </p:nvSpPr>
        <p:spPr>
          <a:xfrm>
            <a:off x="793790" y="538222"/>
            <a:ext cx="669036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5550"/>
              </a:lnSpc>
            </a:pPr>
            <a:r>
              <a:rPr lang="fr-FR" sz="445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SÉCURISATION DES MOTS DE PASSE</a:t>
            </a: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8E59D48A-F3AF-755F-4072-BF801A3C3C65}"/>
              </a:ext>
            </a:extLst>
          </p:cNvPr>
          <p:cNvSpPr/>
          <p:nvPr/>
        </p:nvSpPr>
        <p:spPr>
          <a:xfrm>
            <a:off x="1074475" y="1830250"/>
            <a:ext cx="7569994" cy="176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Controllers/</a:t>
            </a:r>
            <a:r>
              <a:rPr lang="en-US" sz="2000" b="1" i="1" dirty="0" err="1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UsersController.php</a:t>
            </a:r>
            <a:endParaRPr lang="en-US" sz="2000" b="1" i="1" dirty="0">
              <a:solidFill>
                <a:srgbClr val="0C0D0F"/>
              </a:solidFill>
              <a:latin typeface="Poppins" panose="00000500000000000000" pitchFamily="2" charset="0"/>
              <a:ea typeface="Hubot Sans Bold" pitchFamily="34" charset="-122"/>
              <a:cs typeface="Poppins" panose="00000500000000000000" pitchFamily="2" charset="0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A0492606-0990-A3BE-66D6-F0411F2A7B9A}"/>
              </a:ext>
            </a:extLst>
          </p:cNvPr>
          <p:cNvSpPr/>
          <p:nvPr/>
        </p:nvSpPr>
        <p:spPr>
          <a:xfrm>
            <a:off x="4731923" y="5822439"/>
            <a:ext cx="5292000" cy="180000"/>
          </a:xfrm>
          <a:prstGeom prst="roundRect">
            <a:avLst>
              <a:gd name="adj" fmla="val 15703"/>
            </a:avLst>
          </a:prstGeom>
          <a:noFill/>
          <a:ln w="25400">
            <a:solidFill>
              <a:srgbClr val="E10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2FE47FC8-C5E3-721E-5805-A6A63E956A26}"/>
              </a:ext>
            </a:extLst>
          </p:cNvPr>
          <p:cNvSpPr/>
          <p:nvPr/>
        </p:nvSpPr>
        <p:spPr>
          <a:xfrm>
            <a:off x="6793265" y="1836317"/>
            <a:ext cx="7569994" cy="352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create</a:t>
            </a:r>
          </a:p>
        </p:txBody>
      </p:sp>
      <p:sp>
        <p:nvSpPr>
          <p:cNvPr id="26" name="Text 2">
            <a:extLst>
              <a:ext uri="{FF2B5EF4-FFF2-40B4-BE49-F238E27FC236}">
                <a16:creationId xmlns:a16="http://schemas.microsoft.com/office/drawing/2014/main" id="{4BB6C834-3A4F-1F02-B773-841C891D53E8}"/>
              </a:ext>
            </a:extLst>
          </p:cNvPr>
          <p:cNvSpPr/>
          <p:nvPr/>
        </p:nvSpPr>
        <p:spPr>
          <a:xfrm>
            <a:off x="7025944" y="2116358"/>
            <a:ext cx="7218423" cy="91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password_hash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pour stocker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  <a:p>
            <a:pPr>
              <a:lnSpc>
                <a:spcPct val="150000"/>
              </a:lnSpc>
            </a:pP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308B4D74-D46D-C233-2277-C3D924D2929A}"/>
              </a:ext>
            </a:extLst>
          </p:cNvPr>
          <p:cNvSpPr/>
          <p:nvPr/>
        </p:nvSpPr>
        <p:spPr>
          <a:xfrm>
            <a:off x="1290578" y="3396775"/>
            <a:ext cx="7218423" cy="679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Connexion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et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déconnexion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  <a:p>
            <a:pPr>
              <a:lnSpc>
                <a:spcPct val="150000"/>
              </a:lnSpc>
            </a:pP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F89A8ECA-6E2C-F45F-E558-7980F8E4578D}"/>
              </a:ext>
            </a:extLst>
          </p:cNvPr>
          <p:cNvSpPr/>
          <p:nvPr/>
        </p:nvSpPr>
        <p:spPr>
          <a:xfrm>
            <a:off x="1074475" y="3054554"/>
            <a:ext cx="7569994" cy="176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Controllers/</a:t>
            </a:r>
            <a:r>
              <a:rPr lang="en-US" sz="2000" b="1" i="1" dirty="0" err="1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AuthController.php</a:t>
            </a:r>
            <a:endParaRPr lang="en-US" sz="2000" b="1" i="1" dirty="0">
              <a:solidFill>
                <a:srgbClr val="0C0D0F"/>
              </a:solidFill>
              <a:latin typeface="Poppins" panose="00000500000000000000" pitchFamily="2" charset="0"/>
              <a:ea typeface="Hubot Sans Bold" pitchFamily="34" charset="-122"/>
              <a:cs typeface="Poppins" panose="00000500000000000000" pitchFamily="2" charset="0"/>
            </a:endParaRPr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92823799-7D86-7440-8AFF-15C5BF17C072}"/>
              </a:ext>
            </a:extLst>
          </p:cNvPr>
          <p:cNvSpPr/>
          <p:nvPr/>
        </p:nvSpPr>
        <p:spPr>
          <a:xfrm>
            <a:off x="6793265" y="3060621"/>
            <a:ext cx="7569994" cy="352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login</a:t>
            </a:r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548AA52D-591B-295D-42A2-6FF30345FD01}"/>
              </a:ext>
            </a:extLst>
          </p:cNvPr>
          <p:cNvSpPr/>
          <p:nvPr/>
        </p:nvSpPr>
        <p:spPr>
          <a:xfrm>
            <a:off x="7025944" y="3340662"/>
            <a:ext cx="7218423" cy="91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password_verify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pour la comparaison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  <a:p>
            <a:pPr>
              <a:lnSpc>
                <a:spcPct val="150000"/>
              </a:lnSpc>
            </a:pP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B939FFFD-24C4-2880-B669-349C81780163}"/>
              </a:ext>
            </a:extLst>
          </p:cNvPr>
          <p:cNvSpPr/>
          <p:nvPr/>
        </p:nvSpPr>
        <p:spPr>
          <a:xfrm>
            <a:off x="4731923" y="7463545"/>
            <a:ext cx="4572000" cy="180000"/>
          </a:xfrm>
          <a:prstGeom prst="roundRect">
            <a:avLst>
              <a:gd name="adj" fmla="val 15703"/>
            </a:avLst>
          </a:prstGeom>
          <a:noFill/>
          <a:ln w="25400">
            <a:solidFill>
              <a:srgbClr val="E10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B2B16D58-A9D0-C2C8-3CDD-BE3554DA49F5}"/>
              </a:ext>
            </a:extLst>
          </p:cNvPr>
          <p:cNvSpPr/>
          <p:nvPr/>
        </p:nvSpPr>
        <p:spPr>
          <a:xfrm>
            <a:off x="3705986" y="4180058"/>
            <a:ext cx="7218423" cy="473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En cas de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fuite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, mots de passe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difficiles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à exploiter</a:t>
            </a:r>
          </a:p>
          <a:p>
            <a:pPr>
              <a:lnSpc>
                <a:spcPct val="150000"/>
              </a:lnSpc>
            </a:pP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17758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725BA-8A0F-6AC3-2F1C-434EF7A2A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F6F738A7-F186-BD31-4281-36165A2D9F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5506" y="5032411"/>
            <a:ext cx="7248123" cy="2766363"/>
          </a:xfrm>
          <a:prstGeom prst="rect">
            <a:avLst/>
          </a:prstGeom>
        </p:spPr>
      </p:pic>
      <p:sp>
        <p:nvSpPr>
          <p:cNvPr id="6" name="Shape 1">
            <a:extLst>
              <a:ext uri="{FF2B5EF4-FFF2-40B4-BE49-F238E27FC236}">
                <a16:creationId xmlns:a16="http://schemas.microsoft.com/office/drawing/2014/main" id="{D75C1231-D9EE-E394-E833-31E1B8F1B806}"/>
              </a:ext>
            </a:extLst>
          </p:cNvPr>
          <p:cNvSpPr/>
          <p:nvPr/>
        </p:nvSpPr>
        <p:spPr>
          <a:xfrm>
            <a:off x="778859" y="1428640"/>
            <a:ext cx="13072681" cy="1013248"/>
          </a:xfrm>
          <a:prstGeom prst="roundRect">
            <a:avLst>
              <a:gd name="adj" fmla="val 1033"/>
            </a:avLst>
          </a:prstGeom>
          <a:solidFill>
            <a:srgbClr val="D8D9D2"/>
          </a:solidFill>
          <a:ln/>
        </p:spPr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F3CE3196-D47B-D5DD-543D-C85A5CAC7859}"/>
              </a:ext>
            </a:extLst>
          </p:cNvPr>
          <p:cNvSpPr/>
          <p:nvPr/>
        </p:nvSpPr>
        <p:spPr>
          <a:xfrm>
            <a:off x="1290578" y="1906252"/>
            <a:ext cx="11858263" cy="679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Form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::</a:t>
            </a:r>
            <a:r>
              <a:rPr lang="fr-FR" sz="17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validatePost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vérifie présence des champs</a:t>
            </a:r>
            <a:endParaRPr lang="fr-FR" sz="1750" b="1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  <a:p>
            <a:pPr>
              <a:lnSpc>
                <a:spcPct val="150000"/>
              </a:lnSpc>
            </a:pP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34DE09C8-06A9-FC4C-0BA5-5B2639237A1D}"/>
              </a:ext>
            </a:extLst>
          </p:cNvPr>
          <p:cNvSpPr/>
          <p:nvPr/>
        </p:nvSpPr>
        <p:spPr>
          <a:xfrm>
            <a:off x="793789" y="538222"/>
            <a:ext cx="1257497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5550"/>
              </a:lnSpc>
            </a:pPr>
            <a:r>
              <a:rPr lang="fr-FR" sz="445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REQUÊTES PRÉPARÉES</a:t>
            </a: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7C1E99C6-221B-869C-D184-DDDA201F5CD0}"/>
              </a:ext>
            </a:extLst>
          </p:cNvPr>
          <p:cNvSpPr/>
          <p:nvPr/>
        </p:nvSpPr>
        <p:spPr>
          <a:xfrm>
            <a:off x="1074475" y="1564031"/>
            <a:ext cx="7569994" cy="176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i="1" dirty="0" err="1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Contrôleurs</a:t>
            </a:r>
            <a:endParaRPr lang="en-US" sz="2000" b="1" i="1" dirty="0">
              <a:solidFill>
                <a:srgbClr val="0C0D0F"/>
              </a:solidFill>
              <a:latin typeface="Poppins" panose="00000500000000000000" pitchFamily="2" charset="0"/>
              <a:ea typeface="Hubot Sans Bold" pitchFamily="34" charset="-122"/>
              <a:cs typeface="Poppins" panose="00000500000000000000" pitchFamily="2" charset="0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D445F27C-9DBB-C0FB-2F4E-4907745E0432}"/>
              </a:ext>
            </a:extLst>
          </p:cNvPr>
          <p:cNvSpPr/>
          <p:nvPr/>
        </p:nvSpPr>
        <p:spPr>
          <a:xfrm>
            <a:off x="4847896" y="6564617"/>
            <a:ext cx="6014157" cy="368618"/>
          </a:xfrm>
          <a:prstGeom prst="roundRect">
            <a:avLst>
              <a:gd name="adj" fmla="val 15703"/>
            </a:avLst>
          </a:prstGeom>
          <a:noFill/>
          <a:ln w="25400">
            <a:solidFill>
              <a:srgbClr val="E10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ECF07778-977A-0D9B-B560-CD749AE3D1E5}"/>
              </a:ext>
            </a:extLst>
          </p:cNvPr>
          <p:cNvSpPr/>
          <p:nvPr/>
        </p:nvSpPr>
        <p:spPr>
          <a:xfrm>
            <a:off x="765313" y="2630909"/>
            <a:ext cx="13072681" cy="1013248"/>
          </a:xfrm>
          <a:prstGeom prst="roundRect">
            <a:avLst>
              <a:gd name="adj" fmla="val 1033"/>
            </a:avLst>
          </a:prstGeom>
          <a:solidFill>
            <a:srgbClr val="D8D9D2"/>
          </a:solidFill>
          <a:ln/>
        </p:spPr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74B450B5-1176-A37B-3C24-4BC0C141CEC3}"/>
              </a:ext>
            </a:extLst>
          </p:cNvPr>
          <p:cNvSpPr/>
          <p:nvPr/>
        </p:nvSpPr>
        <p:spPr>
          <a:xfrm>
            <a:off x="1277032" y="3108521"/>
            <a:ext cx="11858263" cy="679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Sans passer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directement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les valeurs</a:t>
            </a:r>
            <a:endParaRPr lang="fr-FR" sz="1750" b="1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  <a:p>
            <a:pPr>
              <a:lnSpc>
                <a:spcPct val="150000"/>
              </a:lnSpc>
            </a:pP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9F0D74D4-2FDA-DD4B-E3BD-60466C5CC90E}"/>
              </a:ext>
            </a:extLst>
          </p:cNvPr>
          <p:cNvSpPr/>
          <p:nvPr/>
        </p:nvSpPr>
        <p:spPr>
          <a:xfrm>
            <a:off x="1060929" y="2766300"/>
            <a:ext cx="7569994" cy="176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prepare</a:t>
            </a:r>
          </a:p>
        </p:txBody>
      </p:sp>
      <p:sp>
        <p:nvSpPr>
          <p:cNvPr id="17" name="Shape 1">
            <a:extLst>
              <a:ext uri="{FF2B5EF4-FFF2-40B4-BE49-F238E27FC236}">
                <a16:creationId xmlns:a16="http://schemas.microsoft.com/office/drawing/2014/main" id="{A897469A-0A9C-C2AD-F0A6-4627E436C506}"/>
              </a:ext>
            </a:extLst>
          </p:cNvPr>
          <p:cNvSpPr/>
          <p:nvPr/>
        </p:nvSpPr>
        <p:spPr>
          <a:xfrm>
            <a:off x="778859" y="3831660"/>
            <a:ext cx="13072681" cy="1013248"/>
          </a:xfrm>
          <a:prstGeom prst="roundRect">
            <a:avLst>
              <a:gd name="adj" fmla="val 1033"/>
            </a:avLst>
          </a:prstGeom>
          <a:solidFill>
            <a:srgbClr val="D8D9D2"/>
          </a:solidFill>
          <a:ln/>
        </p:spPr>
        <p:txBody>
          <a:bodyPr/>
          <a:lstStyle/>
          <a:p>
            <a:endParaRPr lang="fr-FR" dirty="0"/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AF920735-5EB0-3D1E-A1E6-7DAF387AA2A8}"/>
              </a:ext>
            </a:extLst>
          </p:cNvPr>
          <p:cNvSpPr/>
          <p:nvPr/>
        </p:nvSpPr>
        <p:spPr>
          <a:xfrm>
            <a:off x="1290578" y="4309272"/>
            <a:ext cx="11858263" cy="679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Exécute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la requête sécurisée contre les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injections SQL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  <a:p>
            <a:pPr>
              <a:lnSpc>
                <a:spcPct val="150000"/>
              </a:lnSpc>
            </a:pP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0829DF76-F6F0-A36C-0F67-1F4A681FAA74}"/>
              </a:ext>
            </a:extLst>
          </p:cNvPr>
          <p:cNvSpPr/>
          <p:nvPr/>
        </p:nvSpPr>
        <p:spPr>
          <a:xfrm>
            <a:off x="1074475" y="3967051"/>
            <a:ext cx="7569994" cy="176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execute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CA20C91E-CA7E-033A-5931-C8EF7887E4D5}"/>
              </a:ext>
            </a:extLst>
          </p:cNvPr>
          <p:cNvSpPr/>
          <p:nvPr/>
        </p:nvSpPr>
        <p:spPr>
          <a:xfrm>
            <a:off x="5162345" y="7139364"/>
            <a:ext cx="4176000" cy="180000"/>
          </a:xfrm>
          <a:prstGeom prst="roundRect">
            <a:avLst>
              <a:gd name="adj" fmla="val 15703"/>
            </a:avLst>
          </a:prstGeom>
          <a:noFill/>
          <a:ln w="25400">
            <a:solidFill>
              <a:srgbClr val="E10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B4790663-361A-BE87-567C-05361F82B7EC}"/>
              </a:ext>
            </a:extLst>
          </p:cNvPr>
          <p:cNvSpPr/>
          <p:nvPr/>
        </p:nvSpPr>
        <p:spPr>
          <a:xfrm>
            <a:off x="4550815" y="6079105"/>
            <a:ext cx="4968000" cy="180000"/>
          </a:xfrm>
          <a:prstGeom prst="roundRect">
            <a:avLst>
              <a:gd name="adj" fmla="val 15703"/>
            </a:avLst>
          </a:prstGeom>
          <a:noFill/>
          <a:ln w="25400">
            <a:solidFill>
              <a:srgbClr val="E10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8636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6D776-8E0F-F604-7BAC-EC6465512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>
            <a:extLst>
              <a:ext uri="{FF2B5EF4-FFF2-40B4-BE49-F238E27FC236}">
                <a16:creationId xmlns:a16="http://schemas.microsoft.com/office/drawing/2014/main" id="{0A56D4F6-E905-7749-4A81-7219866E596D}"/>
              </a:ext>
            </a:extLst>
          </p:cNvPr>
          <p:cNvSpPr/>
          <p:nvPr/>
        </p:nvSpPr>
        <p:spPr>
          <a:xfrm>
            <a:off x="793790" y="1436707"/>
            <a:ext cx="7779260" cy="3135294"/>
          </a:xfrm>
          <a:prstGeom prst="roundRect">
            <a:avLst>
              <a:gd name="adj" fmla="val 1033"/>
            </a:avLst>
          </a:prstGeom>
          <a:solidFill>
            <a:srgbClr val="D8D9D2"/>
          </a:solidFill>
          <a:ln/>
        </p:spPr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4CE2572E-283E-FF2F-0876-D52AA63C4A39}"/>
              </a:ext>
            </a:extLst>
          </p:cNvPr>
          <p:cNvSpPr/>
          <p:nvPr/>
        </p:nvSpPr>
        <p:spPr>
          <a:xfrm>
            <a:off x="1290578" y="1894676"/>
            <a:ext cx="7218423" cy="2397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Classe </a:t>
            </a:r>
            <a:r>
              <a:rPr lang="fr-FR" sz="17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Form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dans le cœur de l’application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htmlspecialchars</a:t>
            </a:r>
            <a:endParaRPr lang="fr-FR" sz="1750" b="1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Echappement centralisé dès la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construction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des formulaires</a:t>
            </a: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1D3E729A-ABEC-A6A1-BE90-901F9834865A}"/>
              </a:ext>
            </a:extLst>
          </p:cNvPr>
          <p:cNvSpPr/>
          <p:nvPr/>
        </p:nvSpPr>
        <p:spPr>
          <a:xfrm>
            <a:off x="793790" y="538222"/>
            <a:ext cx="669036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5550"/>
              </a:lnSpc>
            </a:pPr>
            <a:r>
              <a:rPr lang="en-US" sz="445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PROTECTIONS XSS &amp; TOKENS CSRF</a:t>
            </a: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221E4726-8ED4-1FDD-8302-4E8E42AFB913}"/>
              </a:ext>
            </a:extLst>
          </p:cNvPr>
          <p:cNvSpPr/>
          <p:nvPr/>
        </p:nvSpPr>
        <p:spPr>
          <a:xfrm>
            <a:off x="1074475" y="1552456"/>
            <a:ext cx="7569994" cy="176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XSS</a:t>
            </a:r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A8ABE1E0-2A4C-A71E-762B-E1CF071B8E0B}"/>
              </a:ext>
            </a:extLst>
          </p:cNvPr>
          <p:cNvSpPr/>
          <p:nvPr/>
        </p:nvSpPr>
        <p:spPr>
          <a:xfrm>
            <a:off x="793790" y="4776780"/>
            <a:ext cx="7779260" cy="3135294"/>
          </a:xfrm>
          <a:prstGeom prst="roundRect">
            <a:avLst>
              <a:gd name="adj" fmla="val 1033"/>
            </a:avLst>
          </a:prstGeom>
          <a:solidFill>
            <a:srgbClr val="D8D9D2"/>
          </a:solidFill>
          <a:ln/>
        </p:spPr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F7D3D793-AA3E-C56B-B327-6E6DDD5B378B}"/>
              </a:ext>
            </a:extLst>
          </p:cNvPr>
          <p:cNvSpPr/>
          <p:nvPr/>
        </p:nvSpPr>
        <p:spPr>
          <a:xfrm>
            <a:off x="1279527" y="5234749"/>
            <a:ext cx="7218423" cy="2397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Classe </a:t>
            </a:r>
            <a:r>
              <a:rPr lang="fr-FR" sz="17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Auth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&amp; </a:t>
            </a:r>
            <a:r>
              <a:rPr lang="fr-FR" sz="17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Form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dans le cœur de l’application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Chaque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session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possède un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jeton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Chaque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formulaire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possède un jeton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Si absent ou incorrect : Requête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refusée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</a:t>
            </a:r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0C78C449-0AF1-74E5-8679-5C5796D270F9}"/>
              </a:ext>
            </a:extLst>
          </p:cNvPr>
          <p:cNvSpPr/>
          <p:nvPr/>
        </p:nvSpPr>
        <p:spPr>
          <a:xfrm>
            <a:off x="1063424" y="4892529"/>
            <a:ext cx="7569994" cy="176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TOKENS CSRF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90F2C74-BEEA-A96A-4776-DFEA4CAFFD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9838" y="1562971"/>
            <a:ext cx="5190800" cy="2905916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95652D0B-9646-AB2E-A01C-8037ABAD77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3002" y="4883653"/>
            <a:ext cx="5187636" cy="2843224"/>
          </a:xfrm>
          <a:prstGeom prst="rect">
            <a:avLst/>
          </a:prstGeom>
        </p:spPr>
      </p:pic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064B5796-BD56-AD6C-D66D-318A48CA02B4}"/>
              </a:ext>
            </a:extLst>
          </p:cNvPr>
          <p:cNvSpPr/>
          <p:nvPr/>
        </p:nvSpPr>
        <p:spPr>
          <a:xfrm>
            <a:off x="10820497" y="3084460"/>
            <a:ext cx="1332000" cy="180000"/>
          </a:xfrm>
          <a:prstGeom prst="roundRect">
            <a:avLst>
              <a:gd name="adj" fmla="val 15703"/>
            </a:avLst>
          </a:prstGeom>
          <a:noFill/>
          <a:ln w="25400">
            <a:solidFill>
              <a:srgbClr val="E10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4E9D2CD4-9EDD-B266-336E-81E796C4F608}"/>
              </a:ext>
            </a:extLst>
          </p:cNvPr>
          <p:cNvSpPr/>
          <p:nvPr/>
        </p:nvSpPr>
        <p:spPr>
          <a:xfrm>
            <a:off x="10901522" y="3430764"/>
            <a:ext cx="1332000" cy="180000"/>
          </a:xfrm>
          <a:prstGeom prst="roundRect">
            <a:avLst>
              <a:gd name="adj" fmla="val 15703"/>
            </a:avLst>
          </a:prstGeom>
          <a:noFill/>
          <a:ln w="25400">
            <a:solidFill>
              <a:srgbClr val="E10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D4C6F8D0-237B-BA58-B860-90812C73C735}"/>
              </a:ext>
            </a:extLst>
          </p:cNvPr>
          <p:cNvSpPr/>
          <p:nvPr/>
        </p:nvSpPr>
        <p:spPr>
          <a:xfrm>
            <a:off x="10387922" y="5281049"/>
            <a:ext cx="1044000" cy="180000"/>
          </a:xfrm>
          <a:prstGeom prst="roundRect">
            <a:avLst>
              <a:gd name="adj" fmla="val 15703"/>
            </a:avLst>
          </a:prstGeom>
          <a:noFill/>
          <a:ln w="25400">
            <a:solidFill>
              <a:srgbClr val="E10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41B278CD-22C2-2164-62F0-58C999A63E85}"/>
              </a:ext>
            </a:extLst>
          </p:cNvPr>
          <p:cNvSpPr/>
          <p:nvPr/>
        </p:nvSpPr>
        <p:spPr>
          <a:xfrm>
            <a:off x="10889947" y="6833986"/>
            <a:ext cx="2196000" cy="180000"/>
          </a:xfrm>
          <a:prstGeom prst="roundRect">
            <a:avLst>
              <a:gd name="adj" fmla="val 15703"/>
            </a:avLst>
          </a:prstGeom>
          <a:noFill/>
          <a:ln w="25400">
            <a:solidFill>
              <a:srgbClr val="E10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9595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0B7DC-D8C0-3008-B86D-15D416441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1">
            <a:extLst>
              <a:ext uri="{FF2B5EF4-FFF2-40B4-BE49-F238E27FC236}">
                <a16:creationId xmlns:a16="http://schemas.microsoft.com/office/drawing/2014/main" id="{0DAEFFE9-F44A-4B81-ABC2-9A687C117CA3}"/>
              </a:ext>
            </a:extLst>
          </p:cNvPr>
          <p:cNvSpPr/>
          <p:nvPr/>
        </p:nvSpPr>
        <p:spPr>
          <a:xfrm>
            <a:off x="793907" y="3935388"/>
            <a:ext cx="13042586" cy="3472410"/>
          </a:xfrm>
          <a:prstGeom prst="roundRect">
            <a:avLst>
              <a:gd name="adj" fmla="val 1033"/>
            </a:avLst>
          </a:prstGeom>
          <a:solidFill>
            <a:srgbClr val="D8D9D2"/>
          </a:solidFill>
          <a:ln/>
        </p:spPr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F18EB3E5-AEF5-4107-075D-0642DFF6719E}"/>
              </a:ext>
            </a:extLst>
          </p:cNvPr>
          <p:cNvSpPr/>
          <p:nvPr/>
        </p:nvSpPr>
        <p:spPr>
          <a:xfrm>
            <a:off x="793908" y="3084644"/>
            <a:ext cx="128989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550"/>
              </a:lnSpc>
              <a:buNone/>
            </a:pPr>
            <a:endParaRPr lang="en-US" sz="4450" b="1" i="1" dirty="0">
              <a:solidFill>
                <a:srgbClr val="0C0D0F"/>
              </a:solidFill>
              <a:latin typeface="Poppins" panose="00000500000000000000" pitchFamily="2" charset="0"/>
              <a:ea typeface="Hubot Sans Bold" pitchFamily="34" charset="-122"/>
              <a:cs typeface="Poppins" panose="00000500000000000000" pitchFamily="2" charset="0"/>
            </a:endParaRPr>
          </a:p>
          <a:p>
            <a:pPr marL="0" indent="0" algn="l">
              <a:lnSpc>
                <a:spcPts val="5550"/>
              </a:lnSpc>
              <a:buNone/>
            </a:pPr>
            <a:r>
              <a:rPr lang="fr-FR" sz="445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JEU D’ESSAI &amp; VEILLE EFFECTUÉE</a:t>
            </a:r>
            <a:endParaRPr lang="en-US" sz="4450" b="1" i="1" dirty="0">
              <a:solidFill>
                <a:srgbClr val="0C0D0F"/>
              </a:solidFill>
              <a:latin typeface="Poppins" panose="00000500000000000000" pitchFamily="2" charset="0"/>
              <a:ea typeface="Hubot Sans Bold" pitchFamily="34" charset="-122"/>
              <a:cs typeface="Poppins" panose="00000500000000000000" pitchFamily="2" charset="0"/>
            </a:endParaRPr>
          </a:p>
          <a:p>
            <a:pPr marL="0" indent="0" algn="l">
              <a:lnSpc>
                <a:spcPts val="5550"/>
              </a:lnSpc>
              <a:buNone/>
            </a:pPr>
            <a:endParaRPr lang="en-US" sz="4450" b="1" i="1" dirty="0">
              <a:solidFill>
                <a:srgbClr val="0C0D0F"/>
              </a:solidFill>
              <a:latin typeface="Poppins" panose="00000500000000000000" pitchFamily="2" charset="0"/>
              <a:ea typeface="Hubot Sans Bold" pitchFamily="34" charset="-122"/>
              <a:cs typeface="Poppins" panose="00000500000000000000" pitchFamily="2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EC5EA0B-1585-AA5E-B081-998E76499202}"/>
              </a:ext>
            </a:extLst>
          </p:cNvPr>
          <p:cNvSpPr/>
          <p:nvPr/>
        </p:nvSpPr>
        <p:spPr>
          <a:xfrm>
            <a:off x="793908" y="2593530"/>
            <a:ext cx="753656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5000" b="1" i="1" dirty="0">
                <a:solidFill>
                  <a:srgbClr val="E10600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05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DF17946-C6A1-142D-E89B-6B07626829FC}"/>
              </a:ext>
            </a:extLst>
          </p:cNvPr>
          <p:cNvSpPr/>
          <p:nvPr/>
        </p:nvSpPr>
        <p:spPr>
          <a:xfrm>
            <a:off x="793908" y="2948574"/>
            <a:ext cx="4196358" cy="72000"/>
          </a:xfrm>
          <a:prstGeom prst="rect">
            <a:avLst/>
          </a:prstGeom>
          <a:solidFill>
            <a:srgbClr val="C8CAC1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6E4D697-A9A8-8CE0-7A9D-DC8A05235463}"/>
              </a:ext>
            </a:extLst>
          </p:cNvPr>
          <p:cNvSpPr/>
          <p:nvPr/>
        </p:nvSpPr>
        <p:spPr>
          <a:xfrm>
            <a:off x="1170736" y="4568621"/>
            <a:ext cx="12221173" cy="2376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fr-FR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Roboto Condensed" pitchFamily="34" charset="-122"/>
                <a:cs typeface="Poppins" panose="00000500000000000000" pitchFamily="2" charset="0"/>
              </a:rPr>
              <a:t>JEU D’ESSAI &amp; ANALYSE DES ÉCARTS</a:t>
            </a:r>
          </a:p>
          <a:p>
            <a:pPr marL="0" indent="0" algn="l">
              <a:buNone/>
            </a:pPr>
            <a:r>
              <a:rPr lang="fr-FR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Roboto Condensed" pitchFamily="34" charset="-122"/>
                <a:cs typeface="Poppins" panose="00000500000000000000" pitchFamily="2" charset="0"/>
              </a:rPr>
              <a:t>VEILLE SUR LES VULNÉRABILITÉS DE SÉCURITÉ</a:t>
            </a:r>
          </a:p>
          <a:p>
            <a:pPr marL="0" indent="0" algn="l">
              <a:buNone/>
            </a:pPr>
            <a:r>
              <a:rPr lang="en-US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Roboto Condensed" pitchFamily="34" charset="-122"/>
                <a:cs typeface="Poppins" panose="00000500000000000000" pitchFamily="2" charset="0"/>
              </a:rPr>
              <a:t>TESTS FONCTIONNELS MANUELS</a:t>
            </a:r>
          </a:p>
          <a:p>
            <a:pPr marL="0" indent="0" algn="l">
              <a:buNone/>
            </a:pPr>
            <a:r>
              <a:rPr lang="en-US" sz="3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ea typeface="Roboto Condensed" pitchFamily="34" charset="-122"/>
                <a:cs typeface="Poppins" panose="00000500000000000000" pitchFamily="2" charset="0"/>
              </a:rPr>
              <a:t>DÉPLOIEMENT &amp; README</a:t>
            </a:r>
          </a:p>
          <a:p>
            <a:pPr marL="0" indent="0" algn="l">
              <a:buNone/>
            </a:pPr>
            <a:endParaRPr lang="en-US" sz="3000" b="1" dirty="0">
              <a:solidFill>
                <a:schemeClr val="tx1">
                  <a:lumMod val="65000"/>
                  <a:lumOff val="35000"/>
                </a:schemeClr>
              </a:solidFill>
              <a:latin typeface="Poppins" panose="00000500000000000000" pitchFamily="2" charset="0"/>
              <a:ea typeface="Roboto Condensed" pitchFamily="34" charset="-122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3513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ferris dir="r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55BDC-2F3F-39D8-F826-643F2F881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>
            <a:extLst>
              <a:ext uri="{FF2B5EF4-FFF2-40B4-BE49-F238E27FC236}">
                <a16:creationId xmlns:a16="http://schemas.microsoft.com/office/drawing/2014/main" id="{1E2DE27E-F5A5-B9E3-D565-C56DB991B88E}"/>
              </a:ext>
            </a:extLst>
          </p:cNvPr>
          <p:cNvSpPr/>
          <p:nvPr/>
        </p:nvSpPr>
        <p:spPr>
          <a:xfrm>
            <a:off x="537299" y="2835788"/>
            <a:ext cx="4321697" cy="3546254"/>
          </a:xfrm>
          <a:prstGeom prst="roundRect">
            <a:avLst>
              <a:gd name="adj" fmla="val 1033"/>
            </a:avLst>
          </a:prstGeom>
          <a:solidFill>
            <a:srgbClr val="D8D9D2"/>
          </a:solidFill>
          <a:ln/>
        </p:spPr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2F32E4E5-9AD9-DB4D-0ADC-B64C8860F27E}"/>
              </a:ext>
            </a:extLst>
          </p:cNvPr>
          <p:cNvSpPr/>
          <p:nvPr/>
        </p:nvSpPr>
        <p:spPr>
          <a:xfrm>
            <a:off x="5150734" y="2835788"/>
            <a:ext cx="4321697" cy="3546254"/>
          </a:xfrm>
          <a:prstGeom prst="roundRect">
            <a:avLst>
              <a:gd name="adj" fmla="val 1033"/>
            </a:avLst>
          </a:prstGeom>
          <a:solidFill>
            <a:srgbClr val="D8D9D2"/>
          </a:solidFill>
          <a:ln/>
        </p:spPr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93DD2C16-3832-4862-D5E8-CB4A303FF370}"/>
              </a:ext>
            </a:extLst>
          </p:cNvPr>
          <p:cNvSpPr/>
          <p:nvPr/>
        </p:nvSpPr>
        <p:spPr>
          <a:xfrm>
            <a:off x="9764169" y="2835788"/>
            <a:ext cx="4321697" cy="3546254"/>
          </a:xfrm>
          <a:prstGeom prst="roundRect">
            <a:avLst>
              <a:gd name="adj" fmla="val 1033"/>
            </a:avLst>
          </a:prstGeom>
          <a:solidFill>
            <a:srgbClr val="D8D9D2"/>
          </a:solidFill>
          <a:ln/>
        </p:spPr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CF0CD1B9-9645-202C-17D0-C8A698FBEB66}"/>
              </a:ext>
            </a:extLst>
          </p:cNvPr>
          <p:cNvSpPr/>
          <p:nvPr/>
        </p:nvSpPr>
        <p:spPr>
          <a:xfrm>
            <a:off x="793789" y="538222"/>
            <a:ext cx="1063042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5550"/>
              </a:lnSpc>
            </a:pPr>
            <a:r>
              <a:rPr lang="fr-FR" sz="445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JEU D’ESSAI &amp; ANALYSE DES ÉCARTS</a:t>
            </a: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BE4B869A-5DEF-70A5-9D2E-97CF1C1C6467}"/>
              </a:ext>
            </a:extLst>
          </p:cNvPr>
          <p:cNvSpPr/>
          <p:nvPr/>
        </p:nvSpPr>
        <p:spPr>
          <a:xfrm>
            <a:off x="692508" y="2974688"/>
            <a:ext cx="4166488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DONNÉES EN ENTRÉE</a:t>
            </a: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9F19341C-551D-5B8C-34FB-671892A9D682}"/>
              </a:ext>
            </a:extLst>
          </p:cNvPr>
          <p:cNvSpPr/>
          <p:nvPr/>
        </p:nvSpPr>
        <p:spPr>
          <a:xfrm>
            <a:off x="908611" y="3333594"/>
            <a:ext cx="3950385" cy="2963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Login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: moderateur@gmail.com</a:t>
            </a:r>
          </a:p>
          <a:p>
            <a:pPr>
              <a:lnSpc>
                <a:spcPct val="150000"/>
              </a:lnSpc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                   + mot de passe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Résultat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: </a:t>
            </a:r>
            <a:r>
              <a:rPr lang="fr-FR" sz="1750" b="1" dirty="0">
                <a:solidFill>
                  <a:srgbClr val="E10600"/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GP 1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/ Cédric A. / Red Bull / position 1 / </a:t>
            </a:r>
            <a:r>
              <a:rPr lang="fr-FR" sz="1750" b="1" dirty="0">
                <a:solidFill>
                  <a:srgbClr val="E10600"/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25 pts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Résultat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: </a:t>
            </a:r>
            <a:r>
              <a:rPr lang="fr-FR" sz="1750" b="1" dirty="0">
                <a:solidFill>
                  <a:srgbClr val="E10600"/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GP 2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/ Cédric A.	/ McLaren / position 2 / </a:t>
            </a:r>
            <a:r>
              <a:rPr lang="fr-FR" sz="1750" b="1" dirty="0">
                <a:solidFill>
                  <a:srgbClr val="E10600"/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18 pts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Association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: Cédric A. / </a:t>
            </a:r>
            <a:r>
              <a:rPr lang="fr-FR" sz="1750" b="1" dirty="0">
                <a:solidFill>
                  <a:srgbClr val="E10600"/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McLaren</a:t>
            </a: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DC51C465-9B03-4152-0195-8E481C349930}"/>
              </a:ext>
            </a:extLst>
          </p:cNvPr>
          <p:cNvSpPr/>
          <p:nvPr/>
        </p:nvSpPr>
        <p:spPr>
          <a:xfrm>
            <a:off x="5305943" y="2974688"/>
            <a:ext cx="4166488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20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DONNÉES ATTENDUES</a:t>
            </a: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4F7F1D86-6663-1F24-D274-AC56C8AC8616}"/>
              </a:ext>
            </a:extLst>
          </p:cNvPr>
          <p:cNvSpPr/>
          <p:nvPr/>
        </p:nvSpPr>
        <p:spPr>
          <a:xfrm>
            <a:off x="9919378" y="2974688"/>
            <a:ext cx="4166488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20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DONNÉES EN SORTIE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B5CA3E3-A07F-0DB7-A93B-5CEC0DBB631C}"/>
              </a:ext>
            </a:extLst>
          </p:cNvPr>
          <p:cNvSpPr txBox="1"/>
          <p:nvPr/>
        </p:nvSpPr>
        <p:spPr>
          <a:xfrm>
            <a:off x="11947576" y="691824"/>
            <a:ext cx="23863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800" b="1" dirty="0">
                <a:solidFill>
                  <a:srgbClr val="E10600"/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(voir dossier p.</a:t>
            </a:r>
            <a:r>
              <a:rPr lang="fr-FR" b="1" dirty="0">
                <a:solidFill>
                  <a:srgbClr val="E10600"/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26)</a:t>
            </a:r>
            <a:endParaRPr lang="fr-FR" sz="1800" b="1" dirty="0">
              <a:solidFill>
                <a:srgbClr val="E10600"/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</p:txBody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C6ABB0F6-1910-E28A-DAF7-8BE34019DED6}"/>
              </a:ext>
            </a:extLst>
          </p:cNvPr>
          <p:cNvSpPr/>
          <p:nvPr/>
        </p:nvSpPr>
        <p:spPr>
          <a:xfrm>
            <a:off x="537299" y="1352409"/>
            <a:ext cx="13548567" cy="1296000"/>
          </a:xfrm>
          <a:prstGeom prst="roundRect">
            <a:avLst>
              <a:gd name="adj" fmla="val 1033"/>
            </a:avLst>
          </a:prstGeom>
          <a:solidFill>
            <a:srgbClr val="D8D9D2"/>
          </a:solidFill>
          <a:ln/>
        </p:spPr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594C0A09-D6AE-BB0E-2F3B-3D05C27CF1C6}"/>
              </a:ext>
            </a:extLst>
          </p:cNvPr>
          <p:cNvSpPr/>
          <p:nvPr/>
        </p:nvSpPr>
        <p:spPr>
          <a:xfrm>
            <a:off x="750382" y="1487093"/>
            <a:ext cx="756999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20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PRÉSENTATION</a:t>
            </a:r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606A1BF3-FA00-E975-A12E-F794AC82822A}"/>
              </a:ext>
            </a:extLst>
          </p:cNvPr>
          <p:cNvSpPr/>
          <p:nvPr/>
        </p:nvSpPr>
        <p:spPr>
          <a:xfrm>
            <a:off x="966485" y="1746039"/>
            <a:ext cx="12265347" cy="902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Situation :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Pilote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ayant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changé d’équipe 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en cours de saison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Objectif : Vérifier la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logique métier 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du calcul des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Classements</a:t>
            </a: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21CCD175-3A2E-3C18-24B0-41150709772C}"/>
              </a:ext>
            </a:extLst>
          </p:cNvPr>
          <p:cNvSpPr/>
          <p:nvPr/>
        </p:nvSpPr>
        <p:spPr>
          <a:xfrm>
            <a:off x="5522046" y="3328511"/>
            <a:ext cx="3950385" cy="29681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Cédric A : 25 + 18 = 43 pts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Red Bull : 25 + 0 = 25 pts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McLaren : 0 + 18 = 18 pts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Class Pilotes 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:              Cédric A. : </a:t>
            </a:r>
            <a:r>
              <a:rPr lang="fr-FR" sz="1750" b="1" dirty="0">
                <a:solidFill>
                  <a:srgbClr val="E10600"/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43 pts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Class Constructeurs 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: Red Bull : </a:t>
            </a:r>
            <a:r>
              <a:rPr lang="fr-FR" sz="1750" b="1" dirty="0">
                <a:solidFill>
                  <a:srgbClr val="E10600"/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25 pts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                                             McLaren : </a:t>
            </a:r>
            <a:r>
              <a:rPr lang="fr-FR" sz="1750" b="1" dirty="0">
                <a:solidFill>
                  <a:srgbClr val="E10600"/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18 pts</a:t>
            </a:r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F25538B7-8605-9699-97C3-B660318F6D46}"/>
              </a:ext>
            </a:extLst>
          </p:cNvPr>
          <p:cNvSpPr/>
          <p:nvPr/>
        </p:nvSpPr>
        <p:spPr>
          <a:xfrm>
            <a:off x="10135481" y="3335609"/>
            <a:ext cx="3950385" cy="2961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Class Pilotes 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:               Cédric A. : </a:t>
            </a:r>
            <a:r>
              <a:rPr lang="fr-FR" sz="1750" b="1" dirty="0">
                <a:solidFill>
                  <a:srgbClr val="E10600"/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43 pts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Class Pilotes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: Cédric A. associé à sa nouvelle équipe du GP2 (McLaren)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Class Constructeurs 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: Red Bull : </a:t>
            </a:r>
            <a:r>
              <a:rPr lang="fr-FR" sz="1750" b="1" dirty="0">
                <a:solidFill>
                  <a:srgbClr val="E10600"/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25 pts       </a:t>
            </a:r>
          </a:p>
          <a:p>
            <a:pPr>
              <a:lnSpc>
                <a:spcPct val="150000"/>
              </a:lnSpc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                                              McLaren : </a:t>
            </a:r>
            <a:r>
              <a:rPr lang="fr-FR" sz="1750" b="1" dirty="0">
                <a:solidFill>
                  <a:srgbClr val="E10600"/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18 pts</a:t>
            </a:r>
          </a:p>
        </p:txBody>
      </p:sp>
      <p:sp>
        <p:nvSpPr>
          <p:cNvPr id="19" name="Shape 1">
            <a:extLst>
              <a:ext uri="{FF2B5EF4-FFF2-40B4-BE49-F238E27FC236}">
                <a16:creationId xmlns:a16="http://schemas.microsoft.com/office/drawing/2014/main" id="{4B9203CE-6A3D-0DD6-8E52-44890EB956AA}"/>
              </a:ext>
            </a:extLst>
          </p:cNvPr>
          <p:cNvSpPr/>
          <p:nvPr/>
        </p:nvSpPr>
        <p:spPr>
          <a:xfrm>
            <a:off x="540916" y="6584528"/>
            <a:ext cx="8931515" cy="1296000"/>
          </a:xfrm>
          <a:prstGeom prst="roundRect">
            <a:avLst>
              <a:gd name="adj" fmla="val 1033"/>
            </a:avLst>
          </a:prstGeom>
          <a:solidFill>
            <a:srgbClr val="D8D9D2"/>
          </a:solidFill>
          <a:ln/>
        </p:spPr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6DEBC1DA-6FF4-A79F-75AA-503D6FF725B9}"/>
              </a:ext>
            </a:extLst>
          </p:cNvPr>
          <p:cNvSpPr/>
          <p:nvPr/>
        </p:nvSpPr>
        <p:spPr>
          <a:xfrm>
            <a:off x="753999" y="6719212"/>
            <a:ext cx="756999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20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ANALYSE DES ÉCARTS</a:t>
            </a:r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5DD3B012-D518-0F63-4413-846D23994315}"/>
              </a:ext>
            </a:extLst>
          </p:cNvPr>
          <p:cNvSpPr/>
          <p:nvPr/>
        </p:nvSpPr>
        <p:spPr>
          <a:xfrm>
            <a:off x="970102" y="6978158"/>
            <a:ext cx="8502329" cy="902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Changement d’équipe 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appliqué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et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points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précédemment attribués conservés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Règles métier 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respectées et logique de points correcte</a:t>
            </a:r>
          </a:p>
        </p:txBody>
      </p:sp>
      <p:pic>
        <p:nvPicPr>
          <p:cNvPr id="28" name="Image 27">
            <a:extLst>
              <a:ext uri="{FF2B5EF4-FFF2-40B4-BE49-F238E27FC236}">
                <a16:creationId xmlns:a16="http://schemas.microsoft.com/office/drawing/2014/main" id="{AA64C0C9-E32C-8724-7DC9-2440CF0B6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4169" y="5445966"/>
            <a:ext cx="4323600" cy="2444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916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EEA2D-3CEC-BF7C-B2DC-4AFC01D3A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>
            <a:extLst>
              <a:ext uri="{FF2B5EF4-FFF2-40B4-BE49-F238E27FC236}">
                <a16:creationId xmlns:a16="http://schemas.microsoft.com/office/drawing/2014/main" id="{FA95CAF5-8B3A-3921-5F33-0F6776DE3444}"/>
              </a:ext>
            </a:extLst>
          </p:cNvPr>
          <p:cNvSpPr/>
          <p:nvPr/>
        </p:nvSpPr>
        <p:spPr>
          <a:xfrm>
            <a:off x="793790" y="1436707"/>
            <a:ext cx="7779260" cy="3135294"/>
          </a:xfrm>
          <a:prstGeom prst="roundRect">
            <a:avLst>
              <a:gd name="adj" fmla="val 1033"/>
            </a:avLst>
          </a:prstGeom>
          <a:solidFill>
            <a:srgbClr val="D8D9D2"/>
          </a:solidFill>
          <a:ln/>
        </p:spPr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9797B6D1-F4CF-00AC-40C0-AB2167CCB71A}"/>
              </a:ext>
            </a:extLst>
          </p:cNvPr>
          <p:cNvSpPr/>
          <p:nvPr/>
        </p:nvSpPr>
        <p:spPr>
          <a:xfrm>
            <a:off x="1290578" y="2250276"/>
            <a:ext cx="7218423" cy="2397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Vulnérabilité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identifiée durant le projet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Déconnexion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gardant la session active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Accès au </a:t>
            </a:r>
            <a:r>
              <a:rPr lang="fr-FR" sz="17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dashboard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toujours possible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Risques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: Divulgation, Réutilisation …</a:t>
            </a: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FBB4A3AF-C495-7AB1-A3C9-B5F3C65EFFCD}"/>
              </a:ext>
            </a:extLst>
          </p:cNvPr>
          <p:cNvSpPr/>
          <p:nvPr/>
        </p:nvSpPr>
        <p:spPr>
          <a:xfrm>
            <a:off x="793790" y="538222"/>
            <a:ext cx="669036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5550"/>
              </a:lnSpc>
            </a:pPr>
            <a:r>
              <a:rPr lang="fr-FR" sz="445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VEILLE SUR LES VULNÉRABILITÉS DE SÉCURITÉ</a:t>
            </a: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FE47D12D-E2C2-A6D1-AB48-9240C52D4323}"/>
              </a:ext>
            </a:extLst>
          </p:cNvPr>
          <p:cNvSpPr/>
          <p:nvPr/>
        </p:nvSpPr>
        <p:spPr>
          <a:xfrm>
            <a:off x="1074475" y="1552456"/>
            <a:ext cx="7569994" cy="34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CONTEXTE</a:t>
            </a:r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794A1058-18DD-C852-436A-26ED508FCB6A}"/>
              </a:ext>
            </a:extLst>
          </p:cNvPr>
          <p:cNvSpPr/>
          <p:nvPr/>
        </p:nvSpPr>
        <p:spPr>
          <a:xfrm>
            <a:off x="793790" y="4776780"/>
            <a:ext cx="7779260" cy="3135294"/>
          </a:xfrm>
          <a:prstGeom prst="roundRect">
            <a:avLst>
              <a:gd name="adj" fmla="val 1033"/>
            </a:avLst>
          </a:prstGeom>
          <a:solidFill>
            <a:srgbClr val="D8D9D2"/>
          </a:solidFill>
          <a:ln/>
        </p:spPr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2090B2F3-E6D7-CCB4-C547-52D852668426}"/>
              </a:ext>
            </a:extLst>
          </p:cNvPr>
          <p:cNvSpPr/>
          <p:nvPr/>
        </p:nvSpPr>
        <p:spPr>
          <a:xfrm>
            <a:off x="1279527" y="5234749"/>
            <a:ext cx="7218423" cy="2397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OWASP</a:t>
            </a: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PHP Manual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Modification </a:t>
            </a:r>
            <a:r>
              <a:rPr lang="fr-FR" sz="17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AuthController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(méthode </a:t>
            </a:r>
            <a:r>
              <a:rPr lang="fr-FR" sz="17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logout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Session réellement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détruite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Faille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neutralisée</a:t>
            </a:r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0AB7330D-BD04-6633-C61F-A71846D1BFFB}"/>
              </a:ext>
            </a:extLst>
          </p:cNvPr>
          <p:cNvSpPr/>
          <p:nvPr/>
        </p:nvSpPr>
        <p:spPr>
          <a:xfrm>
            <a:off x="1063424" y="4892529"/>
            <a:ext cx="7569994" cy="34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SOLUTION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699EF0D-B9FC-96FF-BD03-A381CCBCA9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495" y="1754965"/>
            <a:ext cx="3214928" cy="6157109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3DB12045-9DD0-770B-0CB1-B5F38D42C578}"/>
              </a:ext>
            </a:extLst>
          </p:cNvPr>
          <p:cNvSpPr txBox="1"/>
          <p:nvPr/>
        </p:nvSpPr>
        <p:spPr>
          <a:xfrm>
            <a:off x="8466580" y="1277831"/>
            <a:ext cx="5643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800" b="1" dirty="0">
                <a:solidFill>
                  <a:srgbClr val="E10600"/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(voir dossier p.</a:t>
            </a:r>
            <a:r>
              <a:rPr lang="fr-FR" b="1" dirty="0">
                <a:solidFill>
                  <a:srgbClr val="E10600"/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29)</a:t>
            </a:r>
            <a:endParaRPr lang="fr-FR" sz="1800" b="1" dirty="0">
              <a:solidFill>
                <a:srgbClr val="E10600"/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67375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0B55A-B952-8B60-2029-84A122B4E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>
            <a:extLst>
              <a:ext uri="{FF2B5EF4-FFF2-40B4-BE49-F238E27FC236}">
                <a16:creationId xmlns:a16="http://schemas.microsoft.com/office/drawing/2014/main" id="{E16A839A-F0DC-3B4B-FD70-BCE19B81A7C0}"/>
              </a:ext>
            </a:extLst>
          </p:cNvPr>
          <p:cNvSpPr/>
          <p:nvPr/>
        </p:nvSpPr>
        <p:spPr>
          <a:xfrm>
            <a:off x="865209" y="1512907"/>
            <a:ext cx="12690716" cy="1420794"/>
          </a:xfrm>
          <a:prstGeom prst="roundRect">
            <a:avLst>
              <a:gd name="adj" fmla="val 1033"/>
            </a:avLst>
          </a:prstGeom>
          <a:solidFill>
            <a:srgbClr val="D8D9D2"/>
          </a:solidFill>
          <a:ln/>
        </p:spPr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82DFE4BB-8486-3065-6E2F-FB145483AEAE}"/>
              </a:ext>
            </a:extLst>
          </p:cNvPr>
          <p:cNvSpPr/>
          <p:nvPr/>
        </p:nvSpPr>
        <p:spPr>
          <a:xfrm>
            <a:off x="1290578" y="1945477"/>
            <a:ext cx="11879322" cy="1089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MVC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sans </a:t>
            </a:r>
            <a:r>
              <a:rPr lang="fr-FR" sz="17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framework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: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Tests unitaires 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moins pertinents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Tests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fonctionnels 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manuels effectués</a:t>
            </a: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6C61D263-1174-E7EE-2E86-65D35A8A2AC0}"/>
              </a:ext>
            </a:extLst>
          </p:cNvPr>
          <p:cNvSpPr/>
          <p:nvPr/>
        </p:nvSpPr>
        <p:spPr>
          <a:xfrm>
            <a:off x="793790" y="538222"/>
            <a:ext cx="912491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5550"/>
              </a:lnSpc>
            </a:pPr>
            <a:r>
              <a:rPr lang="fr-FR" sz="445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TESTS FONCTIONNELS MANUELS</a:t>
            </a: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994251F3-7F00-F0C8-EE0B-E4A20DEA8521}"/>
              </a:ext>
            </a:extLst>
          </p:cNvPr>
          <p:cNvSpPr/>
          <p:nvPr/>
        </p:nvSpPr>
        <p:spPr>
          <a:xfrm>
            <a:off x="1074475" y="1603256"/>
            <a:ext cx="7569994" cy="34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MISE EN PLACE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347F2A4-7392-BE92-F781-44A16430D323}"/>
              </a:ext>
            </a:extLst>
          </p:cNvPr>
          <p:cNvSpPr txBox="1"/>
          <p:nvPr/>
        </p:nvSpPr>
        <p:spPr>
          <a:xfrm>
            <a:off x="9021705" y="707945"/>
            <a:ext cx="45879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1800" b="1" dirty="0">
                <a:solidFill>
                  <a:srgbClr val="E10600"/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(voir </a:t>
            </a:r>
            <a:r>
              <a:rPr lang="fr-FR" b="1" dirty="0">
                <a:solidFill>
                  <a:srgbClr val="E10600"/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annexe</a:t>
            </a:r>
            <a:r>
              <a:rPr lang="fr-FR" sz="1800" b="1" dirty="0">
                <a:solidFill>
                  <a:srgbClr val="E10600"/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p.</a:t>
            </a:r>
            <a:r>
              <a:rPr lang="fr-FR" b="1" dirty="0">
                <a:solidFill>
                  <a:srgbClr val="E10600"/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58)</a:t>
            </a:r>
            <a:endParaRPr lang="fr-FR" sz="1800" b="1" dirty="0">
              <a:solidFill>
                <a:srgbClr val="E10600"/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91A3C1D-2CDE-744B-6113-9E5F56B8055D}"/>
              </a:ext>
            </a:extLst>
          </p:cNvPr>
          <p:cNvGrpSpPr/>
          <p:nvPr/>
        </p:nvGrpSpPr>
        <p:grpSpPr>
          <a:xfrm>
            <a:off x="2253234" y="3199607"/>
            <a:ext cx="9954010" cy="4752975"/>
            <a:chOff x="2420764" y="3199607"/>
            <a:chExt cx="9954010" cy="4752975"/>
          </a:xfrm>
        </p:grpSpPr>
        <p:pic>
          <p:nvPicPr>
            <p:cNvPr id="5" name="Image 4">
              <a:extLst>
                <a:ext uri="{FF2B5EF4-FFF2-40B4-BE49-F238E27FC236}">
                  <a16:creationId xmlns:a16="http://schemas.microsoft.com/office/drawing/2014/main" id="{1E2B0C1F-3F49-EEC3-A0B7-B20CF25F04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20764" y="3199607"/>
              <a:ext cx="4789803" cy="4752975"/>
            </a:xfrm>
            <a:prstGeom prst="rect">
              <a:avLst/>
            </a:prstGeom>
          </p:spPr>
        </p:pic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876F1937-5B04-527F-BAAE-13018413DF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83174" y="3876146"/>
              <a:ext cx="4791600" cy="40764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37440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F2910-4253-4CCE-D53D-6C0E5719F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1">
            <a:extLst>
              <a:ext uri="{FF2B5EF4-FFF2-40B4-BE49-F238E27FC236}">
                <a16:creationId xmlns:a16="http://schemas.microsoft.com/office/drawing/2014/main" id="{8365488B-D040-6A15-0D30-1226E88D6738}"/>
              </a:ext>
            </a:extLst>
          </p:cNvPr>
          <p:cNvSpPr/>
          <p:nvPr/>
        </p:nvSpPr>
        <p:spPr>
          <a:xfrm>
            <a:off x="873881" y="5665667"/>
            <a:ext cx="7986691" cy="1725593"/>
          </a:xfrm>
          <a:prstGeom prst="roundRect">
            <a:avLst>
              <a:gd name="adj" fmla="val 1033"/>
            </a:avLst>
          </a:prstGeom>
          <a:solidFill>
            <a:srgbClr val="D8D9D2"/>
          </a:solidFill>
          <a:ln/>
        </p:spPr>
      </p:sp>
      <p:sp>
        <p:nvSpPr>
          <p:cNvPr id="20" name="Shape 1">
            <a:extLst>
              <a:ext uri="{FF2B5EF4-FFF2-40B4-BE49-F238E27FC236}">
                <a16:creationId xmlns:a16="http://schemas.microsoft.com/office/drawing/2014/main" id="{37571945-3D1D-7E17-699D-2C858022A7E5}"/>
              </a:ext>
            </a:extLst>
          </p:cNvPr>
          <p:cNvSpPr/>
          <p:nvPr/>
        </p:nvSpPr>
        <p:spPr>
          <a:xfrm>
            <a:off x="873881" y="3564632"/>
            <a:ext cx="7986691" cy="1725593"/>
          </a:xfrm>
          <a:prstGeom prst="roundRect">
            <a:avLst>
              <a:gd name="adj" fmla="val 1033"/>
            </a:avLst>
          </a:prstGeom>
          <a:solidFill>
            <a:srgbClr val="D8D9D2"/>
          </a:solidFill>
          <a:ln/>
        </p:spPr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EB659092-42E7-C1EC-B1FD-07C72C767B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5941" y="1512905"/>
            <a:ext cx="4997706" cy="3229731"/>
          </a:xfrm>
          <a:prstGeom prst="rect">
            <a:avLst/>
          </a:prstGeom>
        </p:spPr>
      </p:pic>
      <p:sp>
        <p:nvSpPr>
          <p:cNvPr id="6" name="Shape 1">
            <a:extLst>
              <a:ext uri="{FF2B5EF4-FFF2-40B4-BE49-F238E27FC236}">
                <a16:creationId xmlns:a16="http://schemas.microsoft.com/office/drawing/2014/main" id="{AC22C60A-FB5B-7F21-8140-59BDD95D7B2A}"/>
              </a:ext>
            </a:extLst>
          </p:cNvPr>
          <p:cNvSpPr/>
          <p:nvPr/>
        </p:nvSpPr>
        <p:spPr>
          <a:xfrm>
            <a:off x="865209" y="1512907"/>
            <a:ext cx="7986691" cy="1725593"/>
          </a:xfrm>
          <a:prstGeom prst="roundRect">
            <a:avLst>
              <a:gd name="adj" fmla="val 1033"/>
            </a:avLst>
          </a:prstGeom>
          <a:solidFill>
            <a:srgbClr val="D8D9D2"/>
          </a:solidFill>
          <a:ln/>
        </p:spPr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CBBFCB82-D008-60CB-FEBA-93343162819F}"/>
              </a:ext>
            </a:extLst>
          </p:cNvPr>
          <p:cNvSpPr/>
          <p:nvPr/>
        </p:nvSpPr>
        <p:spPr>
          <a:xfrm>
            <a:off x="1290578" y="1945477"/>
            <a:ext cx="7569994" cy="1293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Développement       :           </a:t>
            </a:r>
            <a:r>
              <a:rPr lang="fr-FR" sz="17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Wamp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Server</a:t>
            </a: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Test                             :          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OVH - </a:t>
            </a:r>
            <a:r>
              <a:rPr lang="fr-FR" sz="17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CEFii</a:t>
            </a: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Production                 :          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O2SWITCH &amp; internet.bs</a:t>
            </a: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98FB0364-504E-7618-00C1-8DE66DB2FA8A}"/>
              </a:ext>
            </a:extLst>
          </p:cNvPr>
          <p:cNvSpPr/>
          <p:nvPr/>
        </p:nvSpPr>
        <p:spPr>
          <a:xfrm>
            <a:off x="793790" y="538222"/>
            <a:ext cx="912491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5550"/>
              </a:lnSpc>
            </a:pPr>
            <a:r>
              <a:rPr lang="fr-FR" sz="445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DÉPLOIEMENT &amp; README</a:t>
            </a: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E7405E63-5199-94A4-FC9B-426B3B8ECF91}"/>
              </a:ext>
            </a:extLst>
          </p:cNvPr>
          <p:cNvSpPr/>
          <p:nvPr/>
        </p:nvSpPr>
        <p:spPr>
          <a:xfrm>
            <a:off x="1074475" y="1603256"/>
            <a:ext cx="7569994" cy="34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ENVIRONNEMENTS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24360FD-638A-0463-D1B1-B79B51D2724B}"/>
              </a:ext>
            </a:extLst>
          </p:cNvPr>
          <p:cNvSpPr txBox="1"/>
          <p:nvPr/>
        </p:nvSpPr>
        <p:spPr>
          <a:xfrm>
            <a:off x="9744016" y="707945"/>
            <a:ext cx="45879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1800" b="1" dirty="0">
                <a:solidFill>
                  <a:srgbClr val="E10600"/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(voir dossier p.33</a:t>
            </a:r>
            <a:r>
              <a:rPr lang="fr-FR" b="1" dirty="0">
                <a:solidFill>
                  <a:srgbClr val="E10600"/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)</a:t>
            </a:r>
            <a:endParaRPr lang="fr-FR" sz="1800" b="1" dirty="0">
              <a:solidFill>
                <a:srgbClr val="E10600"/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DFD78A64-E5FC-08A5-AB7D-A97E2A70F911}"/>
              </a:ext>
            </a:extLst>
          </p:cNvPr>
          <p:cNvSpPr/>
          <p:nvPr/>
        </p:nvSpPr>
        <p:spPr>
          <a:xfrm>
            <a:off x="1290578" y="3989382"/>
            <a:ext cx="7561322" cy="1293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Tests en local            :          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Novembre et Décembre 2025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Préproduction           :          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Janvier 2026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Mise en production  :          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Février 2026</a:t>
            </a: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625B16CE-26A9-5150-29F5-25D24082C55F}"/>
              </a:ext>
            </a:extLst>
          </p:cNvPr>
          <p:cNvSpPr/>
          <p:nvPr/>
        </p:nvSpPr>
        <p:spPr>
          <a:xfrm>
            <a:off x="1074475" y="3647161"/>
            <a:ext cx="7569994" cy="34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PLANNING</a:t>
            </a:r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61B7C355-9F1D-049C-37E1-54B654846C9D}"/>
              </a:ext>
            </a:extLst>
          </p:cNvPr>
          <p:cNvSpPr/>
          <p:nvPr/>
        </p:nvSpPr>
        <p:spPr>
          <a:xfrm>
            <a:off x="1290578" y="6058688"/>
            <a:ext cx="7569994" cy="1293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Présentation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de l’application avec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plan de déploiement</a:t>
            </a: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Instructions détaillées</a:t>
            </a:r>
            <a:endParaRPr lang="fr-FR" sz="1750" b="1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Configurer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rapidement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l’application</a:t>
            </a:r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16EE06FD-313E-BF33-42FA-E1F388D6CB4C}"/>
              </a:ext>
            </a:extLst>
          </p:cNvPr>
          <p:cNvSpPr/>
          <p:nvPr/>
        </p:nvSpPr>
        <p:spPr>
          <a:xfrm>
            <a:off x="1074475" y="5716467"/>
            <a:ext cx="7569994" cy="34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README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1986C5BE-DFF2-526C-0F80-E9BBBD544C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5941" y="4571852"/>
            <a:ext cx="4997707" cy="2857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476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3C4A8-EE50-5BC8-B027-4CB4FD2E6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193E0C2-C6DB-E9F1-21EB-A8A95DD7DF20}"/>
              </a:ext>
            </a:extLst>
          </p:cNvPr>
          <p:cNvSpPr/>
          <p:nvPr/>
        </p:nvSpPr>
        <p:spPr>
          <a:xfrm>
            <a:off x="793908" y="3084644"/>
            <a:ext cx="128989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550"/>
              </a:lnSpc>
              <a:buNone/>
            </a:pPr>
            <a:r>
              <a:rPr lang="fr-FR" sz="445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CONCLUSION &amp; DÉMO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374281F-46EC-2D17-C0C6-93D2B046F36B}"/>
              </a:ext>
            </a:extLst>
          </p:cNvPr>
          <p:cNvSpPr/>
          <p:nvPr/>
        </p:nvSpPr>
        <p:spPr>
          <a:xfrm>
            <a:off x="793908" y="2593530"/>
            <a:ext cx="753656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5000" b="1" i="1" dirty="0">
                <a:solidFill>
                  <a:srgbClr val="E10600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06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3834367-5E6D-83C4-8D86-580BC1DB8806}"/>
              </a:ext>
            </a:extLst>
          </p:cNvPr>
          <p:cNvSpPr/>
          <p:nvPr/>
        </p:nvSpPr>
        <p:spPr>
          <a:xfrm>
            <a:off x="793908" y="2948574"/>
            <a:ext cx="4196358" cy="72000"/>
          </a:xfrm>
          <a:prstGeom prst="rect">
            <a:avLst/>
          </a:prstGeom>
          <a:solidFill>
            <a:srgbClr val="C8CAC1"/>
          </a:solidFill>
          <a:ln/>
        </p:spPr>
      </p:sp>
    </p:spTree>
    <p:extLst>
      <p:ext uri="{BB962C8B-B14F-4D97-AF65-F5344CB8AC3E}">
        <p14:creationId xmlns:p14="http://schemas.microsoft.com/office/powerpoint/2010/main" val="1557476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ferris dir="r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327BF-18EB-E029-6E8B-C2560E364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>
            <a:extLst>
              <a:ext uri="{FF2B5EF4-FFF2-40B4-BE49-F238E27FC236}">
                <a16:creationId xmlns:a16="http://schemas.microsoft.com/office/drawing/2014/main" id="{62F73E50-C86C-DDC2-11E0-2D9D835B0D67}"/>
              </a:ext>
            </a:extLst>
          </p:cNvPr>
          <p:cNvSpPr/>
          <p:nvPr/>
        </p:nvSpPr>
        <p:spPr>
          <a:xfrm>
            <a:off x="537299" y="1842001"/>
            <a:ext cx="4321697" cy="2830018"/>
          </a:xfrm>
          <a:prstGeom prst="roundRect">
            <a:avLst>
              <a:gd name="adj" fmla="val 1033"/>
            </a:avLst>
          </a:prstGeom>
          <a:solidFill>
            <a:srgbClr val="D8D9D2"/>
          </a:solidFill>
          <a:ln/>
        </p:spPr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13296F99-5435-0E31-8E08-E03667FE4BA4}"/>
              </a:ext>
            </a:extLst>
          </p:cNvPr>
          <p:cNvSpPr/>
          <p:nvPr/>
        </p:nvSpPr>
        <p:spPr>
          <a:xfrm>
            <a:off x="5150734" y="1842001"/>
            <a:ext cx="4321697" cy="2830018"/>
          </a:xfrm>
          <a:prstGeom prst="roundRect">
            <a:avLst>
              <a:gd name="adj" fmla="val 1033"/>
            </a:avLst>
          </a:prstGeom>
          <a:solidFill>
            <a:srgbClr val="D8D9D2"/>
          </a:solidFill>
          <a:ln/>
        </p:spPr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616227AF-A302-47F1-1D36-8FE286AEC1AC}"/>
              </a:ext>
            </a:extLst>
          </p:cNvPr>
          <p:cNvSpPr/>
          <p:nvPr/>
        </p:nvSpPr>
        <p:spPr>
          <a:xfrm>
            <a:off x="9764169" y="1842001"/>
            <a:ext cx="4321697" cy="2830018"/>
          </a:xfrm>
          <a:prstGeom prst="roundRect">
            <a:avLst>
              <a:gd name="adj" fmla="val 1033"/>
            </a:avLst>
          </a:prstGeom>
          <a:solidFill>
            <a:srgbClr val="D8D9D2"/>
          </a:solidFill>
          <a:ln/>
        </p:spPr>
      </p:sp>
      <p:sp>
        <p:nvSpPr>
          <p:cNvPr id="17" name="Shape 1">
            <a:extLst>
              <a:ext uri="{FF2B5EF4-FFF2-40B4-BE49-F238E27FC236}">
                <a16:creationId xmlns:a16="http://schemas.microsoft.com/office/drawing/2014/main" id="{6B704A66-D405-4B35-0238-DA9410BB6387}"/>
              </a:ext>
            </a:extLst>
          </p:cNvPr>
          <p:cNvSpPr/>
          <p:nvPr/>
        </p:nvSpPr>
        <p:spPr>
          <a:xfrm>
            <a:off x="537299" y="4949225"/>
            <a:ext cx="13548567" cy="2106598"/>
          </a:xfrm>
          <a:prstGeom prst="roundRect">
            <a:avLst>
              <a:gd name="adj" fmla="val 1033"/>
            </a:avLst>
          </a:prstGeom>
          <a:solidFill>
            <a:srgbClr val="D8D9D2"/>
          </a:solidFill>
          <a:ln/>
        </p:spPr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BD50A84F-CE04-9194-1521-A1439DEF9712}"/>
              </a:ext>
            </a:extLst>
          </p:cNvPr>
          <p:cNvSpPr/>
          <p:nvPr/>
        </p:nvSpPr>
        <p:spPr>
          <a:xfrm>
            <a:off x="793790" y="538222"/>
            <a:ext cx="669036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5550"/>
              </a:lnSpc>
            </a:pPr>
            <a:r>
              <a:rPr lang="en-US" sz="445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CONCLUSION</a:t>
            </a: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9C1123BD-A5F5-14DA-1B40-D026763CFDC9}"/>
              </a:ext>
            </a:extLst>
          </p:cNvPr>
          <p:cNvSpPr/>
          <p:nvPr/>
        </p:nvSpPr>
        <p:spPr>
          <a:xfrm>
            <a:off x="692508" y="2142947"/>
            <a:ext cx="4166488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SATISFACTIONS</a:t>
            </a:r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C751B3DE-2BD3-AD16-869C-F4ACC36DBCF2}"/>
              </a:ext>
            </a:extLst>
          </p:cNvPr>
          <p:cNvSpPr/>
          <p:nvPr/>
        </p:nvSpPr>
        <p:spPr>
          <a:xfrm>
            <a:off x="908611" y="2760707"/>
            <a:ext cx="3950385" cy="161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Utilisation des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compétences acquises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Conception de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A à Z 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sans </a:t>
            </a:r>
            <a:r>
              <a:rPr lang="fr-FR" sz="17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framework</a:t>
            </a: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Plateforme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opérationnelle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et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utilisée</a:t>
            </a:r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4B770AC7-B65E-05D2-AFCB-A253FAD92243}"/>
              </a:ext>
            </a:extLst>
          </p:cNvPr>
          <p:cNvSpPr/>
          <p:nvPr/>
        </p:nvSpPr>
        <p:spPr>
          <a:xfrm>
            <a:off x="1074475" y="5112516"/>
            <a:ext cx="756999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REMERCIEMENTS</a:t>
            </a:r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8FF7B3D5-8E42-0FB6-1B7D-D293D0AABE9F}"/>
              </a:ext>
            </a:extLst>
          </p:cNvPr>
          <p:cNvSpPr/>
          <p:nvPr/>
        </p:nvSpPr>
        <p:spPr>
          <a:xfrm>
            <a:off x="1290578" y="5536562"/>
            <a:ext cx="12265347" cy="1604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Olivier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, formateur en développement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École du </a:t>
            </a:r>
            <a:r>
              <a:rPr lang="fr-FR" sz="175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CEFii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d’Angers</a:t>
            </a: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Formation à distance : un véritable élément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déclencheur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et un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aboutissement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total</a:t>
            </a: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20B6D470-5CF8-70B8-89EB-9539F4BD5F13}"/>
              </a:ext>
            </a:extLst>
          </p:cNvPr>
          <p:cNvSpPr/>
          <p:nvPr/>
        </p:nvSpPr>
        <p:spPr>
          <a:xfrm>
            <a:off x="5305943" y="2142947"/>
            <a:ext cx="4166488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DIFFICULTÉS</a:t>
            </a: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6B3F9C1A-76BB-26B9-D80A-97A0EF4DD04F}"/>
              </a:ext>
            </a:extLst>
          </p:cNvPr>
          <p:cNvSpPr/>
          <p:nvPr/>
        </p:nvSpPr>
        <p:spPr>
          <a:xfrm>
            <a:off x="5522046" y="2760706"/>
            <a:ext cx="3950385" cy="1613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Responsive design 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pour les tableaux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Veille quotidienne des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vulnérabilités</a:t>
            </a: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Mise en place de la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sécurité</a:t>
            </a: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647A46D6-EC92-0720-BE9C-AD8E3B78831B}"/>
              </a:ext>
            </a:extLst>
          </p:cNvPr>
          <p:cNvSpPr/>
          <p:nvPr/>
        </p:nvSpPr>
        <p:spPr>
          <a:xfrm>
            <a:off x="9919378" y="2142947"/>
            <a:ext cx="4166488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EVOLUTIONS</a:t>
            </a:r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BD5B81A9-FFEB-58B5-22B5-42F4450321C2}"/>
              </a:ext>
            </a:extLst>
          </p:cNvPr>
          <p:cNvSpPr/>
          <p:nvPr/>
        </p:nvSpPr>
        <p:spPr>
          <a:xfrm>
            <a:off x="10135481" y="2760706"/>
            <a:ext cx="3950385" cy="1797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Améliorer 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selon besoins et retours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Suivi des </a:t>
            </a:r>
            <a:r>
              <a:rPr lang="fr-FR" sz="17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commits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sur </a:t>
            </a: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GitHub</a:t>
            </a:r>
            <a:endParaRPr lang="fr-FR" sz="1750" dirty="0">
              <a:solidFill>
                <a:schemeClr val="tx1">
                  <a:lumMod val="65000"/>
                  <a:lumOff val="35000"/>
                </a:schemeClr>
              </a:solidFill>
              <a:latin typeface="Titillium Web" panose="00000500000000000000" pitchFamily="2" charset="0"/>
              <a:ea typeface="Roboto Condensed" pitchFamily="34" charset="-122"/>
              <a:cs typeface="Roboto Condensed" pitchFamily="34" charset="-12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Idées</a:t>
            </a:r>
            <a:r>
              <a:rPr lang="fr-FR" sz="1750" dirty="0">
                <a:solidFill>
                  <a:schemeClr val="tx1">
                    <a:lumMod val="65000"/>
                    <a:lumOff val="35000"/>
                  </a:schemeClr>
                </a:solidFill>
                <a:latin typeface="Titillium Web" panose="00000500000000000000" pitchFamily="2" charset="0"/>
                <a:ea typeface="Roboto Condensed" pitchFamily="34" charset="-122"/>
                <a:cs typeface="Roboto Condensed" pitchFamily="34" charset="-120"/>
              </a:rPr>
              <a:t> : API, articles, commentaires …</a:t>
            </a:r>
          </a:p>
        </p:txBody>
      </p:sp>
    </p:spTree>
    <p:extLst>
      <p:ext uri="{BB962C8B-B14F-4D97-AF65-F5344CB8AC3E}">
        <p14:creationId xmlns:p14="http://schemas.microsoft.com/office/powerpoint/2010/main" val="1907507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3414C-3063-787A-CD02-F557D47AA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>
            <a:extLst>
              <a:ext uri="{FF2B5EF4-FFF2-40B4-BE49-F238E27FC236}">
                <a16:creationId xmlns:a16="http://schemas.microsoft.com/office/drawing/2014/main" id="{E23D3B36-30FF-4AD6-E5E8-73E9578D76B7}"/>
              </a:ext>
            </a:extLst>
          </p:cNvPr>
          <p:cNvSpPr/>
          <p:nvPr/>
        </p:nvSpPr>
        <p:spPr>
          <a:xfrm>
            <a:off x="537299" y="1284782"/>
            <a:ext cx="13293001" cy="6055818"/>
          </a:xfrm>
          <a:prstGeom prst="roundRect">
            <a:avLst>
              <a:gd name="adj" fmla="val 1033"/>
            </a:avLst>
          </a:prstGeom>
          <a:solidFill>
            <a:srgbClr val="D8D9D2"/>
          </a:solidFill>
          <a:ln/>
        </p:spPr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1455BDAE-D3B4-0139-8010-EF87E369F678}"/>
              </a:ext>
            </a:extLst>
          </p:cNvPr>
          <p:cNvSpPr/>
          <p:nvPr/>
        </p:nvSpPr>
        <p:spPr>
          <a:xfrm>
            <a:off x="793790" y="538222"/>
            <a:ext cx="669036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5550"/>
              </a:lnSpc>
            </a:pPr>
            <a:r>
              <a:rPr lang="en-US" sz="445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D</a:t>
            </a:r>
            <a:r>
              <a:rPr lang="fr-FR" sz="445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ÉMO</a:t>
            </a:r>
            <a:endParaRPr lang="en-US" sz="4450" b="1" i="1" dirty="0">
              <a:solidFill>
                <a:srgbClr val="0C0D0F"/>
              </a:solidFill>
              <a:latin typeface="Poppins" panose="00000500000000000000" pitchFamily="2" charset="0"/>
              <a:ea typeface="Hubot Sans Bold" pitchFamily="34" charset="-122"/>
              <a:cs typeface="Poppins" panose="00000500000000000000" pitchFamily="2" charset="0"/>
            </a:endParaRP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8F3BBFEB-44E4-7048-B630-86D356DED9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097" y="1711193"/>
            <a:ext cx="11786206" cy="5137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645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43163-F22A-84ED-183C-40EB028E8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5C485F5-1F5A-75A8-B2C4-481B0AEDE187}"/>
              </a:ext>
            </a:extLst>
          </p:cNvPr>
          <p:cNvSpPr/>
          <p:nvPr/>
        </p:nvSpPr>
        <p:spPr>
          <a:xfrm>
            <a:off x="793908" y="3084644"/>
            <a:ext cx="128989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5550"/>
              </a:lnSpc>
            </a:pPr>
            <a:r>
              <a:rPr lang="en-US" sz="4450" b="1" i="1" dirty="0">
                <a:solidFill>
                  <a:srgbClr val="0C0D0F"/>
                </a:solidFill>
                <a:latin typeface="Poppins" panose="00000500000000000000" pitchFamily="2" charset="0"/>
                <a:ea typeface="Hubot Sans Bold" pitchFamily="34" charset="-122"/>
                <a:cs typeface="Poppins" panose="00000500000000000000" pitchFamily="2" charset="0"/>
              </a:rPr>
              <a:t>A VOS QUESTIONS …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6D5FE1D-BDEA-FE15-6114-A0B78C60036B}"/>
              </a:ext>
            </a:extLst>
          </p:cNvPr>
          <p:cNvSpPr/>
          <p:nvPr/>
        </p:nvSpPr>
        <p:spPr>
          <a:xfrm>
            <a:off x="793908" y="2948574"/>
            <a:ext cx="4196358" cy="72000"/>
          </a:xfrm>
          <a:prstGeom prst="rect">
            <a:avLst/>
          </a:prstGeom>
          <a:solidFill>
            <a:srgbClr val="C8CAC1"/>
          </a:solidFill>
          <a:ln/>
        </p:spPr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60E5969-B57B-E7F4-22C0-106613F16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1155" y="988952"/>
            <a:ext cx="6251696" cy="6251696"/>
          </a:xfrm>
          <a:prstGeom prst="rect">
            <a:avLst/>
          </a:prstGeom>
          <a:ln w="50800">
            <a:solidFill>
              <a:srgbClr val="15151E"/>
            </a:solidFill>
          </a:ln>
        </p:spPr>
      </p:pic>
    </p:spTree>
    <p:extLst>
      <p:ext uri="{BB962C8B-B14F-4D97-AF65-F5344CB8AC3E}">
        <p14:creationId xmlns:p14="http://schemas.microsoft.com/office/powerpoint/2010/main" val="99149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ferris dir="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2525</TotalTime>
  <Words>1689</Words>
  <Application>Microsoft Office PowerPoint</Application>
  <PresentationFormat>Personnalisé</PresentationFormat>
  <Paragraphs>416</Paragraphs>
  <Slides>33</Slides>
  <Notes>33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33</vt:i4>
      </vt:variant>
    </vt:vector>
  </HeadingPairs>
  <TitlesOfParts>
    <vt:vector size="38" baseType="lpstr">
      <vt:lpstr>Arial</vt:lpstr>
      <vt:lpstr>Titillium Web</vt:lpstr>
      <vt:lpstr>Wingdings</vt:lpstr>
      <vt:lpstr>Poppins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Cédric Para</dc:creator>
  <cp:lastModifiedBy>Cédric Para</cp:lastModifiedBy>
  <cp:revision>337</cp:revision>
  <dcterms:created xsi:type="dcterms:W3CDTF">2025-12-19T18:10:30Z</dcterms:created>
  <dcterms:modified xsi:type="dcterms:W3CDTF">2026-01-16T15:24:24Z</dcterms:modified>
</cp:coreProperties>
</file>